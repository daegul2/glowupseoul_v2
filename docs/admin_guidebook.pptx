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52160"/>
            <a:ext cx="12191695" cy="73152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9A063"/>
                </a:solidFill>
                <a:latin typeface="맑은 고딕"/>
              </a:rPr>
              <a:t>✦  GLOW UP SEOUL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2A2A2A"/>
                </a:solidFill>
                <a:latin typeface="맑은 고딕"/>
              </a:rPr>
              <a:t>운영 가이드북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 i="1">
                <a:solidFill>
                  <a:srgbClr val="5A5A5A"/>
                </a:solidFill>
                <a:latin typeface="맑은 고딕"/>
              </a:rPr>
              <a:t>Admin 화면 사용법 · 비개발자용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5A5A"/>
                </a:solidFill>
                <a:latin typeface="맑은 고딕"/>
              </a:rPr>
              <a:t>처음 한 번 정독한 뒤,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5A5A"/>
                </a:solidFill>
                <a:latin typeface="맑은 고딕"/>
              </a:rPr>
              <a:t>필요할 때마다 해당 챕터만 다시 보시면 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8A8A"/>
                </a:solidFill>
                <a:latin typeface="맑은 고딕"/>
              </a:rPr>
              <a:t>v1 · 2026-05-14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2179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8A8A8A"/>
                </a:solidFill>
                <a:latin typeface="맑은 고딕"/>
              </a:rPr>
              <a:t>문의 · glowupinseoul@gmail.com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2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◇  시작하기 전에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이 가이드는 누구를 위한 것인가요?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5A5A5A"/>
                </a:solidFill>
                <a:latin typeface="맑은 고딕"/>
              </a:rPr>
              <a:t>글로업 서울의 운영을 도와주시는 분 — 즉 당신을 위한 것입니다.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2A2A2A"/>
                </a:solidFill>
                <a:latin typeface="맑은 고딕"/>
              </a:rPr>
              <a:t>이 가이드는 다음을 가정합니다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832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C9A063"/>
                </a:solidFill>
                <a:latin typeface="맑은 고딕"/>
              </a:rPr>
              <a:t>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A2A2A"/>
                </a:solidFill>
                <a:latin typeface="맑은 고딕"/>
              </a:rPr>
              <a:t>프로그래밍을 모르셔도 됩니다. 코드 한 줄도 안 나옵니다.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862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C9A063"/>
                </a:solidFill>
                <a:latin typeface="맑은 고딕"/>
              </a:rPr>
              <a:t>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8620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A2A2A"/>
                </a:solidFill>
                <a:latin typeface="맑은 고딕"/>
              </a:rPr>
              <a:t>관리자 페이지(Admin)에 들어가는 방법은 알고 있다고 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891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C9A063"/>
                </a:solidFill>
                <a:latin typeface="맑은 고딕"/>
              </a:rPr>
              <a:t>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38912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A2A2A"/>
                </a:solidFill>
                <a:latin typeface="맑은 고딕"/>
              </a:rPr>
              <a:t>병원·시술·환자 후기 등을 직접 입력하실 분입니다.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920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C9A063"/>
                </a:solidFill>
                <a:latin typeface="맑은 고딕"/>
              </a:rPr>
              <a:t>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9204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A2A2A"/>
                </a:solidFill>
                <a:latin typeface="맑은 고딕"/>
              </a:rPr>
              <a:t>막혔을 때 누구에게 물어볼지는 알고 계십니다 (마지막 슬라이드 참고).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577840"/>
            <a:ext cx="10881360" cy="914400"/>
          </a:xfrm>
          <a:prstGeom prst="rect">
            <a:avLst/>
          </a:prstGeom>
          <a:solidFill>
            <a:srgbClr val="E8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577840"/>
            <a:ext cx="54864" cy="9144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7150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9A063"/>
                </a:solidFill>
                <a:latin typeface="맑은 고딕"/>
              </a:rPr>
              <a:t>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7150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딱 한 가지 약속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60350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이 가이드의 순서대로 따라가시면 사이트가 정상 작동합니다. 순서를 건너뛰면 사이트가 텅 비거나 잘못된 정보가 보일 수 있어요.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3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◇  먼저 익숙해지기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Admin 화면의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5A5A5A"/>
                </a:solidFill>
                <a:latin typeface="맑은 고딕"/>
              </a:rPr>
              <a:t>왼쪽 메뉴 9개. 각 메뉴는 한 가지 데이터를 다룹니다.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32918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9A063"/>
                </a:solidFill>
                <a:latin typeface="맑은 고딕"/>
              </a:rPr>
              <a:t>사이드바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📊 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3872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📥  파트너 신청서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31336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🏥  병원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23944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✦  시술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1655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◇  카테고리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0916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✿  고민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01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👤  의사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94376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📸  전후사진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86984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📰  실시간 피드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7959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🔗  고민↔시술 매트릭스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743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2A2A2A"/>
                </a:solidFill>
                <a:latin typeface="맑은 고딕"/>
              </a:rPr>
              <a:t>메뉴별 사용 빈도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246120"/>
            <a:ext cx="7315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246120"/>
            <a:ext cx="54864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383280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자주 가는 곳 (운영의 70%)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74904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병원 · 시술 · 고민↔시술 매트릭스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4343400"/>
            <a:ext cx="7315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4343400"/>
            <a:ext cx="54864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4480560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처음 채우고 잘 안 만지는 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84632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카테고리 · 의사 · 전후사진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5440680"/>
            <a:ext cx="7315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80" y="5440680"/>
            <a:ext cx="54864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5577840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매일 보는 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594360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대시보드 (전체 카운트) · 파트너 신청서 (새 신청)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4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◇  큰 그림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어떤 순서로 채워야 하나요?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5A5A5A"/>
                </a:solidFill>
                <a:latin typeface="맑은 고딕"/>
              </a:rPr>
              <a:t>데이터는 서로 연결돼 있어서 순서가 중요합니다.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5394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606040"/>
            <a:ext cx="73152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70632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C9A063"/>
                </a:solidFill>
                <a:latin typeface="Calibri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77063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2A2A2A"/>
                </a:solidFill>
                <a:latin typeface="맑은 고딕"/>
              </a:rPr>
              <a:t>카테고리 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13639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(자동 완료) 사진만 추가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606040"/>
            <a:ext cx="5394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606040"/>
            <a:ext cx="73152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770632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C9A063"/>
                </a:solidFill>
                <a:latin typeface="Calibri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77063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2A2A2A"/>
                </a:solidFill>
                <a:latin typeface="맑은 고딕"/>
              </a:rPr>
              <a:t>고민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313639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고객 검색 키워드 (Lifting · Wrinkles 등)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49040"/>
            <a:ext cx="5394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749040"/>
            <a:ext cx="73152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913632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C9A063"/>
                </a:solidFill>
                <a:latin typeface="Calibri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91363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2A2A2A"/>
                </a:solidFill>
                <a:latin typeface="맑은 고딕"/>
              </a:rPr>
              <a:t>시술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27939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우리가 다루는 시술 카탈로그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749040"/>
            <a:ext cx="5394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749040"/>
            <a:ext cx="73152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913632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C9A063"/>
                </a:solidFill>
                <a:latin typeface="Calibri"/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391363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2A2A2A"/>
                </a:solidFill>
                <a:latin typeface="맑은 고딕"/>
              </a:rPr>
              <a:t>매트릭스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427939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고민 ↔ 시술 연결 (⭐ 가장 중요)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892040"/>
            <a:ext cx="5394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892040"/>
            <a:ext cx="73152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056632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C9A063"/>
                </a:solidFill>
                <a:latin typeface="Calibri"/>
              </a:rPr>
              <a:t>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505663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2A2A2A"/>
                </a:solidFill>
                <a:latin typeface="맑은 고딕"/>
              </a:rPr>
              <a:t>병원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542239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위 모든 것을 사용해서 등록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892040"/>
            <a:ext cx="5394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4892040"/>
            <a:ext cx="73152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5056632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C9A063"/>
                </a:solidFill>
                <a:latin typeface="Calibri"/>
              </a:rPr>
              <a:t>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505663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2A2A2A"/>
                </a:solidFill>
                <a:latin typeface="맑은 고딕"/>
              </a:rPr>
              <a:t>실시간 피드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542239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메인 화면 후기 부트스트랩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852160"/>
            <a:ext cx="10881360" cy="914400"/>
          </a:xfrm>
          <a:prstGeom prst="rect">
            <a:avLst/>
          </a:prstGeom>
          <a:solidFill>
            <a:srgbClr val="FA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852160"/>
            <a:ext cx="54864" cy="914400"/>
          </a:xfrm>
          <a:prstGeom prst="rect">
            <a:avLst/>
          </a:prstGeom>
          <a:solidFill>
            <a:srgbClr val="C45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9893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4554D"/>
                </a:solidFill>
                <a:latin typeface="맑은 고딕"/>
              </a:rPr>
              <a:t>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598932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순서를 어기지 마세요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20" y="630936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예: 시술이 없는 상태에서 병원에 시술 가격표를 추가하려고 하면, 선택할 시술이 없어서 막힙니다.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5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4554D"/>
                </a:solidFill>
                <a:latin typeface="맑은 고딕"/>
              </a:rPr>
              <a:t>⚠  미리 알아두기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가장 자주 빠지는 함정 5가지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5A5A5A"/>
                </a:solidFill>
                <a:latin typeface="맑은 고딕"/>
              </a:rPr>
              <a:t>본격 시작 전에 이 다섯 가지만 미리 알아두세요.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10881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770632"/>
            <a:ext cx="411480" cy="411480"/>
          </a:xfrm>
          <a:prstGeom prst="rect">
            <a:avLst/>
          </a:prstGeom>
          <a:solidFill>
            <a:srgbClr val="C45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07208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71576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'계약 상태' 가 '활성' 이 아니에요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01752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기본값이 '대기 중'이라 사이트에 안 보여요. 저장 후 꼭 '활성'으로.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392424"/>
            <a:ext cx="10881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557016"/>
            <a:ext cx="411480" cy="411480"/>
          </a:xfrm>
          <a:prstGeom prst="rect">
            <a:avLst/>
          </a:prstGeom>
          <a:solidFill>
            <a:srgbClr val="C45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593592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50215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URL 식별자 한 번 정하면 절대 바꾸지 마세요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803904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외부 링크와 사진 폴더가 이 이름으로 묶여 있어 바꾸면 다 깨집니다.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78808"/>
            <a:ext cx="10881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343400"/>
            <a:ext cx="411480" cy="411480"/>
          </a:xfrm>
          <a:prstGeom prst="rect">
            <a:avLst/>
          </a:prstGeom>
          <a:solidFill>
            <a:srgbClr val="C45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79976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28853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전후사진 — 환자 서면 동의 없이 절대 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590288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한국 개인정보보호법(PIPA) 위반. '동의 받음' 체크 꼭 확인.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965192"/>
            <a:ext cx="10881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5129784"/>
            <a:ext cx="411480" cy="411480"/>
          </a:xfrm>
          <a:prstGeom prst="rect">
            <a:avLst/>
          </a:prstGeom>
          <a:solidFill>
            <a:srgbClr val="C45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16636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074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사진을 비워두지 마세요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37667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썸네일 비어있으면 사이트 카드가 회색 박스로 표시됩니다.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751576"/>
            <a:ext cx="10881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5916168"/>
            <a:ext cx="411480" cy="411480"/>
          </a:xfrm>
          <a:prstGeom prst="rect">
            <a:avLst/>
          </a:prstGeom>
          <a:solidFill>
            <a:srgbClr val="C45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952744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5861304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입력 순서를 어기지 마세요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6163056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다음 슬라이드부터의 순서 그대로 따라가시면 절대 안 막힙니다.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6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STEP 1 · 카테고리 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5486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8A8A8A"/>
                </a:solidFill>
                <a:latin typeface="맑은 고딕"/>
              </a:rPr>
              <a:t>예상 시간 · 약 15분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카테고리 사진 채우기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10881360" cy="6858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📍  어디로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947672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맑은 고딕"/>
              </a:rPr>
              <a:t>좌측 메뉴 → [카테고리]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677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👆  순서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267712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5A5A5A"/>
                </a:solidFill>
                <a:latin typeface="맑은 고딕"/>
              </a:rPr>
              <a:t>카테고리 → 행 우측 ✏ → 사진 2장 업로드 → 저장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✏️  채워야 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썸네일 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4728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작은 카드용 · 약 800×800px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0332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히어로 사진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5020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페이지 상단 큰 사진 · 약 1600×900px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9A063"/>
                </a:solidFill>
                <a:latin typeface="맑은 고딕"/>
              </a:rPr>
              <a:t>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기타 정보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5312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이름은 자동 입력됨 — 손대지 마세요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278892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💡  왜 채우나요?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3154680"/>
            <a:ext cx="4297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카테고리 8개 (얼굴/눈/코/바디/피부/모발/웰니스/치과) 는 자동으로 만들어져 있어요. 사진만 비어 있는 상태입니다. 사진을 넣으면 메인 화면 그리드에 즉시 반영됩니다.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9480" y="5074920"/>
            <a:ext cx="4297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69480" y="5074920"/>
            <a:ext cx="45720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518464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A2A2A"/>
                </a:solidFill>
                <a:latin typeface="맑은 고딕"/>
              </a:rPr>
              <a:t>예시 · 얼굴 (face)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548640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썸네일: 얼굴 클로즈업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히어로: 클리닉 분위기 사진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806440"/>
            <a:ext cx="10881360" cy="914400"/>
          </a:xfrm>
          <a:prstGeom prst="rect">
            <a:avLst/>
          </a:prstGeom>
          <a:solidFill>
            <a:srgbClr val="E8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806440"/>
            <a:ext cx="54864" cy="9144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9436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9A063"/>
                </a:solidFill>
                <a:latin typeface="맑은 고딕"/>
              </a:rPr>
              <a:t>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9436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카테고리는 새로 만들지 마세요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62636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8개가 사이트 분류 체계의 뼈대입니다. 추가/삭제하면 흔들립니다.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7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STEP 2 · 고민 등록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5486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8A8A8A"/>
                </a:solidFill>
                <a:latin typeface="맑은 고딕"/>
              </a:rPr>
              <a:t>예상 시간 · 약 30분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고객의 고민(검색 키워드) 등록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10881360" cy="6858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📍  어디로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947672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맑은 고딕"/>
              </a:rPr>
              <a:t>좌측 메뉴 → [고민]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677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👆  순서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267712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5A5A5A"/>
                </a:solidFill>
                <a:latin typeface="맑은 고딕"/>
              </a:rPr>
              <a:t>고민 → [+ 새로 만들기] → 필드 입력 → 저장 → 반복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✏️  채워야 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이름 한국어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4728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예: 리프팅 / 여드름 흉터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0332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이름 영어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5020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예: Lifting / Acne Scars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이름 중국어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5312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중국 시장 80% — 빠뜨리지 마세요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091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0916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부위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5604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얼굴/눈/코/바디/피부 중 하나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120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9A063"/>
                </a:solidFill>
                <a:latin typeface="맑은 고딕"/>
              </a:rPr>
              <a:t>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1208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URL 식별자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45896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비워두면 자동 생성 · 건너뛰세요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278892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💡  왜 채우나요?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3154680"/>
            <a:ext cx="4297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외국인 환자가 "I want lifting" 으로 검색하면, 우리 사이트에 'Lifting' 이라는 고민이 있어야 매칭됩니다. 이 단계가 매칭 결과의 입구를 만듭니다.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69480" y="5074920"/>
            <a:ext cx="4297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69480" y="5074920"/>
            <a:ext cx="45720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518464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A2A2A"/>
                </a:solidFill>
                <a:latin typeface="맑은 고딕"/>
              </a:rPr>
              <a:t>예시 · 첫 10개 추천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548640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Lifting · Wrinkles · Sagging · Pores · Acne Scars · Dark Circles · Volume Loss · Nose Shape · Eye Shape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806440"/>
            <a:ext cx="10881360" cy="914400"/>
          </a:xfrm>
          <a:prstGeom prst="rect">
            <a:avLst/>
          </a:prstGeom>
          <a:solidFill>
            <a:srgbClr val="E8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5806440"/>
            <a:ext cx="54864" cy="9144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9436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9A063"/>
                </a:solidFill>
                <a:latin typeface="맑은 고딕"/>
              </a:rPr>
              <a:t>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59436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목표 20~30개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62636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처음엔 인기 10개만 만들어도 사이트가 작동합니다. 나머지는 운영하며 추가.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8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STEP 3 · 시술 등록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5486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8A8A8A"/>
                </a:solidFill>
                <a:latin typeface="맑은 고딕"/>
              </a:rPr>
              <a:t>예상 시간 · 약 2시간 (30~50개)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시술 카탈로그 등록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10881360" cy="6858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📍  어디로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947672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맑은 고딕"/>
              </a:rPr>
              <a:t>좌측 메뉴 → [시술]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677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👆  순서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267712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5A5A5A"/>
                </a:solidFill>
                <a:latin typeface="맑은 고딕"/>
              </a:rPr>
              <a:t>시술 → [+ 새로 만들기] → 필드 입력 → 저장 → 반복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✏️  채워야 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이름 한/영/중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4728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예: 울쎄라 / Ulthera Lifting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0332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카테고리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5020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8개 중 선택 (콤보박스)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기전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5312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HIFU / RF / 필러 등 · 여러 개 가능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091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0916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강도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5604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subtle / moderate / dramatic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120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1208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회복 기간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45896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0~30일 · 시술 후 며칠 쉬어야 하나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715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71500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통증 강도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96188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0~5 · 0=없음 / 5=매우 아픔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278892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💡  왜 채우나요?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3154680"/>
            <a:ext cx="4297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사이트의 '메뉴판' 입니다. 시술이 없으면 병원이 어떤 시술을 등록할지 선택할 수 없어요. 인기 시술 30개를 먼저 만드세요.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69480" y="5074920"/>
            <a:ext cx="4297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69480" y="5074920"/>
            <a:ext cx="45720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518464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A2A2A"/>
                </a:solidFill>
                <a:latin typeface="맑은 고딕"/>
              </a:rPr>
              <a:t>예시 · 우선 만들 30개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548640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HIFU · 써마지 · 필러 · 보톡스 · 리쥬란 · 실리프팅 · 코성형 · 쌍커풀 · 지방흡입 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806440"/>
            <a:ext cx="10881360" cy="914400"/>
          </a:xfrm>
          <a:prstGeom prst="rect">
            <a:avLst/>
          </a:prstGeom>
          <a:solidFill>
            <a:srgbClr val="E8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806440"/>
            <a:ext cx="54864" cy="9144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9436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9A063"/>
                </a:solidFill>
                <a:latin typeface="맑은 고딕"/>
              </a:rPr>
              <a:t>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59436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한국어 + 영어 이름 모두 채우기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20" y="62636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외국인 환자는 영어, 운영자는 한국어로 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9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STEP 4 · 매트릭스 (⭐가장 중요)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5486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8A8A8A"/>
                </a:solidFill>
                <a:latin typeface="맑은 고딕"/>
              </a:rPr>
              <a:t>예상 시간 · 약 1~2시간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고민 ↔ 시술 연결하기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10881360" cy="6858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📍  어디로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947672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맑은 고딕"/>
              </a:rPr>
              <a:t>좌측 메뉴 → [고민↔시술 매트릭스]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677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👆  순서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267712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5A5A5A"/>
                </a:solidFill>
                <a:latin typeface="맑은 고딕"/>
              </a:rPr>
              <a:t>고민 카드 안 [+ 시술 추가] → 시술 선택 → 관련도 지정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✏️  채워야 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시술 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4728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Step 3에서 만든 시술 중에서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0332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관련도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5020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primary (1순위) / secondary / adjunct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78892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💡  왜 채우나요?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3154680"/>
            <a:ext cx="4297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매칭 알고리즘의 핵심 재료. 사이트 매칭 품질의 80%가 여기서 결정됩니다. 한 고민당 시술 2~3개씩 연결. 정성 들이는 만큼 결과가 좋아져요.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80" y="5074920"/>
            <a:ext cx="4297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69480" y="5074920"/>
            <a:ext cx="45720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518464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A2A2A"/>
                </a:solidFill>
                <a:latin typeface="맑은 고딕"/>
              </a:rPr>
              <a:t>예시 · Lifting 고민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548640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HIFU (primary) · 실리프팅 (primary) · 써마지 (secondary) · 필러 (adjunct)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806440"/>
            <a:ext cx="10881360" cy="914400"/>
          </a:xfrm>
          <a:prstGeom prst="rect">
            <a:avLst/>
          </a:prstGeom>
          <a:solidFill>
            <a:srgbClr val="E8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806440"/>
            <a:ext cx="54864" cy="9144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9436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9A063"/>
                </a:solidFill>
                <a:latin typeface="맑은 고딕"/>
              </a:rPr>
              <a:t>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9436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운영의 진짜 가치는 여기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62636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어떤 고민에 어떤 시술이 좋은지 — 그 큐레이션이 우리의 차별점입니다.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10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STEP 5 · 병원 등록 (가장 큰 작업)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5486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8A8A8A"/>
                </a:solidFill>
                <a:latin typeface="맑은 고딕"/>
              </a:rPr>
              <a:t>예상 시간 · 병원당 약 30분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병원 한 곳을 등록하는 4단계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5A5A5A"/>
                </a:solidFill>
                <a:latin typeface="맑은 고딕"/>
              </a:rPr>
              <a:t>한 화면 안에서 4가지를 차례로 채웁니다.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97480"/>
            <a:ext cx="10881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697480"/>
            <a:ext cx="73152" cy="77724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803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C9A063"/>
                </a:solidFill>
                <a:latin typeface="Calibri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86207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2A2A2A"/>
                </a:solidFill>
                <a:latin typeface="맑은 고딕"/>
              </a:rPr>
              <a:t>기본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20040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병원 이름 · 주소 · 연락처 · 사진 · 응대 언어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66160"/>
            <a:ext cx="10881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66160"/>
            <a:ext cx="73152" cy="77724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490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C9A063"/>
                </a:solidFill>
                <a:latin typeface="Calibri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73075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2A2A2A"/>
                </a:solidFill>
                <a:latin typeface="맑은 고딕"/>
              </a:rPr>
              <a:t>의사 추가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06908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병원 소속 의사 사진 + 직책 + 경력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434840"/>
            <a:ext cx="10881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34840"/>
            <a:ext cx="73152" cy="77724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6177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C9A063"/>
                </a:solidFill>
                <a:latin typeface="Calibri"/>
              </a:rPr>
              <a:t>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59943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2A2A2A"/>
                </a:solidFill>
                <a:latin typeface="맑은 고딕"/>
              </a:rPr>
              <a:t>시술 가격표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이 병원이 제공하는 시술 10~30개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303520"/>
            <a:ext cx="10881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303520"/>
            <a:ext cx="73152" cy="77724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4864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C9A063"/>
                </a:solidFill>
                <a:latin typeface="Calibri"/>
              </a:rPr>
              <a:t>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6811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2A2A2A"/>
                </a:solidFill>
                <a:latin typeface="맑은 고딕"/>
              </a:rPr>
              <a:t>전후사진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80644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환자 동의 받은 before/after 사진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852160"/>
            <a:ext cx="10881360" cy="914400"/>
          </a:xfrm>
          <a:prstGeom prst="rect">
            <a:avLst/>
          </a:prstGeom>
          <a:solidFill>
            <a:srgbClr val="E8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852160"/>
            <a:ext cx="54864" cy="9144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9893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9A063"/>
                </a:solidFill>
                <a:latin typeface="맑은 고딕"/>
              </a:rPr>
              <a:t>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98932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우선 7곳부터 → 전체 22곳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630936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Hershe · 노즈립 · 리엔장 강남 · 우아 · 365mc · Vellicell · Soi — 이 7곳 부터 시작하면 사이트가 살아납니다.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11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STEP 5-1 · 병원 기본 정보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5486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8A8A8A"/>
                </a:solidFill>
                <a:latin typeface="맑은 고딕"/>
              </a:rPr>
              <a:t>예상 시간 · 병원당 약 10분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병원 기본 정보 입력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10881360" cy="6858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📍  어디로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947672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맑은 고딕"/>
              </a:rPr>
              <a:t>좌측 메뉴 → [병원] → [+ 새로 만들기]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677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👆  순서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267712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5A5A5A"/>
                </a:solidFill>
                <a:latin typeface="맑은 고딕"/>
              </a:rPr>
              <a:t>병원 → [+ 새로 만들기] → '기본 정보' 그룹부터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✏️  채워야 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간판명 한국어/영어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4728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예: 헤르쉬 청담점 / Hershe Cheongdam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0332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도시 · 구 · 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5020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예: 서울 · 강남구 · 청담동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응대 언어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5312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한/영/중/일 등 · 여러 개 선택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091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9A063"/>
                </a:solidFill>
                <a:latin typeface="맑은 고딕"/>
              </a:rPr>
              <a:t>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0916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연락처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5604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전화 / 카카오 / 위챗 / WhatsApp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120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1208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사진 (3종)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45896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썸네일 · 히어로 · 갤러리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715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71500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계약 상태 = '활성' 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96188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이거 안 바꾸면 사이트에 안 보임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278892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💡  왜 채우나요?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3154680"/>
            <a:ext cx="4297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병원의 '대문' 정보. 사이트 병원 상세 페이지에 그대로 나타납니다. 외국인 환자가 가장 먼저 보는 화면이에요.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69480" y="5074920"/>
            <a:ext cx="4297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69480" y="5074920"/>
            <a:ext cx="45720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518464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A2A2A"/>
                </a:solidFill>
                <a:latin typeface="맑은 고딕"/>
              </a:rPr>
              <a:t>예시 · 브랜드 정보 그룹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548640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같은 화면 아래쪽 '브랜드 정보' 그룹에 브랜드명·로고만 채우면 자동으로 브랜드가 등록됩니다.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806440"/>
            <a:ext cx="10881360" cy="914400"/>
          </a:xfrm>
          <a:prstGeom prst="rect">
            <a:avLst/>
          </a:prstGeom>
          <a:solidFill>
            <a:srgbClr val="FA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806440"/>
            <a:ext cx="54864" cy="914400"/>
          </a:xfrm>
          <a:prstGeom prst="rect">
            <a:avLst/>
          </a:prstGeom>
          <a:solidFill>
            <a:srgbClr val="C45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9436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4554D"/>
                </a:solidFill>
                <a:latin typeface="맑은 고딕"/>
              </a:rPr>
              <a:t>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59436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계약 상태 = '활성(active)' 꼭 확인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20" y="62636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기본값은 '대기 중'. 활성으로 바꾸지 않으면 사이트에 절대 안 보입니다. 가장 흔한 실수.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12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STEP 5-2 · 의사 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5486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8A8A8A"/>
                </a:solidFill>
                <a:latin typeface="맑은 고딕"/>
              </a:rPr>
              <a:t>예상 시간 · 의사당 약 5분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병원 소속 의사 추가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10881360" cy="6858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📍  어디로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947672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맑은 고딕"/>
              </a:rPr>
              <a:t>병원 편집 화면 → '의사' 패널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677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👆  순서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267712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5A5A5A"/>
                </a:solidFill>
                <a:latin typeface="맑은 고딕"/>
              </a:rPr>
              <a:t>병원 저장 후 → '의사' 패널 → [+ 의사 추가]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✏️  채워야 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이름 한국어/영어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4728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예: 김민준 / Dr. Min Jun Kim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0332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직책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5020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예: 대표원장 / 부원장 / 전문의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경력 한 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5312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예: 강남대 출신, 15년 경력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091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0916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portrait 사진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5604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정사각형 · 깔끔한 정면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120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9A063"/>
                </a:solidFill>
                <a:latin typeface="맑은 고딕"/>
              </a:rPr>
              <a:t>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1208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대표 의사 토글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45896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병원의 얼굴이면 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278892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💡  왜 채우나요?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3154680"/>
            <a:ext cx="4297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외국인 환자에게 의사 정보는 가장 큰 신뢰 시그널입니다. 사진과 경력만 있어도 결정률이 크게 올라가요.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69480" y="5074920"/>
            <a:ext cx="4297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69480" y="5074920"/>
            <a:ext cx="45720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518464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A2A2A"/>
                </a:solidFill>
                <a:latin typeface="맑은 고딕"/>
              </a:rPr>
              <a:t>예시 · 처음엔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548640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병원당 대표 의사 1명만 먼저 등록. 부원장들은 나중에.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806440"/>
            <a:ext cx="10881360" cy="914400"/>
          </a:xfrm>
          <a:prstGeom prst="rect">
            <a:avLst/>
          </a:prstGeom>
          <a:solidFill>
            <a:srgbClr val="E8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5806440"/>
            <a:ext cx="54864" cy="9144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9436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9A063"/>
                </a:solidFill>
                <a:latin typeface="맑은 고딕"/>
              </a:rPr>
              <a:t>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59436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사진이 가장 중요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62636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이름·경력만 있고 사진이 없으면 신뢰도가 떨어져요. 병원에서 사진 받아오는 게 우선.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13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STEP 5-3 · 시술 가격표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5486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8A8A8A"/>
                </a:solidFill>
                <a:latin typeface="맑은 고딕"/>
              </a:rPr>
              <a:t>예상 시간 · 병원당 10~30분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이 병원의 시술과 가격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10881360" cy="6858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📍  어디로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947672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맑은 고딕"/>
              </a:rPr>
              <a:t>병원 편집 화면 → '시술 가격표' 패널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677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👆  순서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267712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5A5A5A"/>
                </a:solidFill>
                <a:latin typeface="맑은 고딕"/>
              </a:rPr>
              <a:t>시술 패널 → [+ 시술 추가] → 시술 선택 → 가격 입력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✏️  채워야 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시술 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4728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Step 3에서 만든 시술 중에서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0332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시작 가격 (KRW)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5020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예: 390000 (콤마 없이 숫자)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9A063"/>
                </a:solidFill>
                <a:latin typeface="맑은 고딕"/>
              </a:rPr>
              <a:t>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원가 (선택)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5312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할인 표시용 · 자동 % 계산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091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9A063"/>
                </a:solidFill>
                <a:latin typeface="맑은 고딕"/>
              </a:rPr>
              <a:t>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0916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장비 / 기기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5604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예: Shurink, Thermage FLX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120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9A063"/>
                </a:solidFill>
                <a:latin typeface="맑은 고딕"/>
              </a:rPr>
              <a:t>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1208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시그너처 토글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45896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대표 시술이면 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715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71500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공개 여부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96188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기본 ON · 가끔 숨길 때만 OFF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278892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💡  왜 채우나요?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3154680"/>
            <a:ext cx="4297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병원 상세 페이지의 '메뉴판'. 환자가 어떤 시술을 얼마에 받을 수 있는지 결정해주는 핵심 데이터입니다.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69480" y="5074920"/>
            <a:ext cx="4297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69480" y="5074920"/>
            <a:ext cx="45720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518464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A2A2A"/>
                </a:solidFill>
                <a:latin typeface="맑은 고딕"/>
              </a:rPr>
              <a:t>예시 · 한 병원당 보통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548640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10~30개 시술. 시그너처 1~3개는 꼭 토글 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806440"/>
            <a:ext cx="10881360" cy="914400"/>
          </a:xfrm>
          <a:prstGeom prst="rect">
            <a:avLst/>
          </a:prstGeom>
          <a:solidFill>
            <a:srgbClr val="E8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806440"/>
            <a:ext cx="54864" cy="9144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9436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9A063"/>
                </a:solidFill>
                <a:latin typeface="맑은 고딕"/>
              </a:rPr>
              <a:t>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59436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가격 받기 어려우면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20" y="62636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[공개 안 함] 토글로 사이트에 '상담문의'로 표시됩니다.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14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4554D"/>
                </a:solidFill>
                <a:latin typeface="맑은 고딕"/>
              </a:rPr>
              <a:t>STEP 5-4 · 전후사진 — 가장 조심스럽게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5486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8A8A8A"/>
                </a:solidFill>
                <a:latin typeface="맑은 고딕"/>
              </a:rPr>
              <a:t>사진당 약 5분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전후사진(B&amp;A) 등록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10881360" cy="914400"/>
          </a:xfrm>
          <a:prstGeom prst="rect">
            <a:avLst/>
          </a:prstGeom>
          <a:solidFill>
            <a:srgbClr val="FA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54864" cy="914400"/>
          </a:xfrm>
          <a:prstGeom prst="rect">
            <a:avLst/>
          </a:prstGeom>
          <a:solidFill>
            <a:srgbClr val="C45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4554D"/>
                </a:solidFill>
                <a:latin typeface="맑은 고딕"/>
              </a:rPr>
              <a:t>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96596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이 단계는 법적으로 가장 민감합니다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28600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한국 PIPA 는 환자 사진을 민감정보로 분류. 환자 서면 동의 없는 사진은 절대 등록 X. 운영자 본인의 책임 영역입니다.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926080"/>
            <a:ext cx="10881360" cy="6858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017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📍  어디로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99923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맑은 고딕"/>
              </a:rPr>
              <a:t>병원 편집 화면 → 'B&amp;A (전후사진)' 패널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1927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👆  순서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33192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5A5A5A"/>
                </a:solidFill>
                <a:latin typeface="맑은 고딕"/>
              </a:rPr>
              <a:t>[+ B&amp;A 추가] → 사진 2장 → 환자 메타 → 동의 체크 → 저장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404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✏️  채워야 할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0624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A2A2A"/>
                </a:solidFill>
                <a:latin typeface="맑은 고딕"/>
              </a:rPr>
              <a:t>Before 사진 (시술 전)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53542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35424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A2A2A"/>
                </a:solidFill>
                <a:latin typeface="맑은 고딕"/>
              </a:rPr>
              <a:t>After 사진 (시술 후)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646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6460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A2A2A"/>
                </a:solidFill>
                <a:latin typeface="맑은 고딕"/>
              </a:rPr>
              <a:t>이 사진의 시술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1937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9A063"/>
                </a:solidFill>
                <a:latin typeface="맑은 고딕"/>
              </a:rPr>
              <a:t>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19379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A2A2A"/>
                </a:solidFill>
                <a:latin typeface="맑은 고딕"/>
              </a:rPr>
              <a:t>환자 나이대 · 환자 국가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52297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52297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A2A2A"/>
                </a:solidFill>
                <a:latin typeface="맑은 고딕"/>
              </a:rPr>
              <a:t>⚠ 환자 서면 동의 체크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521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8521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A2A2A"/>
                </a:solidFill>
                <a:latin typeface="맑은 고딕"/>
              </a:rPr>
              <a:t>공개 범위 (전체 / 로그인 / 비공개)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384048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💡  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420624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C9A063"/>
                </a:solidFill>
                <a:latin typeface="맑은 고딕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2062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처음엔 병원당 시그너처 시술 B&amp;A 5장만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57200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C9A063"/>
                </a:solidFill>
                <a:latin typeface="맑은 고딕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45720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동의서 없으면 일단 '비공개'로 등록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493776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C9A063"/>
                </a:solidFill>
                <a:latin typeface="맑은 고딕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9377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환자 얼굴 식별 가능 사진은 더 조심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53035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C9A063"/>
                </a:solidFill>
                <a:latin typeface="맑은 고딕"/>
              </a:rPr>
              <a:t>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53035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의심스러우면 등록하지 마세요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15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STEP 6 · 실시간 피드 시드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5486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8A8A8A"/>
                </a:solidFill>
                <a:latin typeface="맑은 고딕"/>
              </a:rPr>
              <a:t>예상 시간 · 약 10분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메인 화면 후기 부트스트랩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10881360" cy="6858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📍  어디로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947672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맑은 고딕"/>
              </a:rPr>
              <a:t>좌측 메뉴 → [실시간 피드]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677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👆  순서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267712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5A5A5A"/>
                </a:solidFill>
                <a:latin typeface="맑은 고딕"/>
              </a:rPr>
              <a:t>실시간 피드 → [+ 새로 만들기] → 5~10개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✏️  채워야 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이니셜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4728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이름 첫 글자만 · 예: 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0332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국가 코드/명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5020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예: SG · Singapore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관련 시술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5312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Step 3에서 만든 시술 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091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0916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결과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5604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matched / quoted / booked 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120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1208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운영자 시드 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45896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운영자가 만든 표시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715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71500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공개 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96188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사이트에 보이게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278892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💡  왜 채우나요?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3154680"/>
            <a:ext cx="4297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메인 화면 상단 '실시간으로 매칭되고 있어요' 띠와 'Recently matched' 섹션을 살리는 시드. 운영자가 5~10개 만들어두면 실 환자 옵트인 시 자동으로 늘어납니다.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69480" y="5074920"/>
            <a:ext cx="4297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69480" y="5074920"/>
            <a:ext cx="45720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518464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A2A2A"/>
                </a:solidFill>
                <a:latin typeface="맑은 고딕"/>
              </a:rPr>
              <a:t>예시 · 좋은 분포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548640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다양한 국가 (싱가포르·중국·일본·인니·미국) + 다양한 시술 (얼굴·바디·치과)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806440"/>
            <a:ext cx="10881360" cy="914400"/>
          </a:xfrm>
          <a:prstGeom prst="rect">
            <a:avLst/>
          </a:prstGeom>
          <a:solidFill>
            <a:srgbClr val="E8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806440"/>
            <a:ext cx="54864" cy="9144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9436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9A063"/>
                </a:solidFill>
                <a:latin typeface="맑은 고딕"/>
              </a:rPr>
              <a:t>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59436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is_seed 토글 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20" y="62636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운영자가 만든 시드와 실 환자 옵트인 항목을 구분하는 토글입니다.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16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일상 · 매일 체크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신규 파트너 병원 신청 검토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5A5A5A"/>
                </a:solidFill>
                <a:latin typeface="맑은 고딕"/>
              </a:rPr>
              <a:t>사이트 우측 하단 '파트너 등록' 으로 들어온 신청 처리.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10881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624328"/>
            <a:ext cx="347472" cy="347472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42616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5877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2A2A2A"/>
                </a:solidFill>
                <a:latin typeface="맑은 고딕"/>
              </a:rPr>
              <a:t>WhatsApp 알림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25496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신청 들어오면 운영자에게 자동 알림. 클릭 시 신청 요약 카드.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18104"/>
            <a:ext cx="10881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27832"/>
            <a:ext cx="347472" cy="347472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246120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19125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2A2A2A"/>
                </a:solidFill>
                <a:latin typeface="맑은 고딕"/>
              </a:rPr>
              <a:t>[파트너 신청서] 메뉴 진입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42900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사이드바 두 번째 → 리스트 → 카드 클릭.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21608"/>
            <a:ext cx="10881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3831336"/>
            <a:ext cx="347472" cy="347472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849624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794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2A2A2A"/>
                </a:solidFill>
                <a:latin typeface="맑은 고딕"/>
              </a:rPr>
              <a:t>내용 검토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032504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면허 · 안전 기록 · 외국인 응대 능력 · 중복 여부 확인.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325112"/>
            <a:ext cx="10881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4434840"/>
            <a:ext cx="347472" cy="347472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453128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39826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2A2A2A"/>
                </a:solidFill>
                <a:latin typeface="맑은 고딕"/>
              </a:rPr>
              <a:t>[승인] 또는 [거절]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63600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승인: 브랜드+병원 자동 등록 ('대기 중' 상태). 거절: 파일 보관함으로 이동.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928616"/>
            <a:ext cx="10881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5038344"/>
            <a:ext cx="347472" cy="347472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056632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0176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2A2A2A"/>
                </a:solidFill>
                <a:latin typeface="맑은 고딕"/>
              </a:rPr>
              <a:t>승인 병원 → '활성' 전환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5239512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[병원] 메뉴에서 행 찾아 계약 상태 '활성'으로 + 사진/의사/시술 채우기.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806440"/>
            <a:ext cx="10881360" cy="914400"/>
          </a:xfrm>
          <a:prstGeom prst="rect">
            <a:avLst/>
          </a:prstGeom>
          <a:solidFill>
            <a:srgbClr val="E8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5806440"/>
            <a:ext cx="54864" cy="9144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9436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9A063"/>
                </a:solidFill>
                <a:latin typeface="맑은 고딕"/>
              </a:rPr>
              <a:t>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59436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자동 등록 ≠ 자동 공개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62636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승인하면 DB엔 들어가지만 '대기 중' 이라 사이트엔 안 보임. 의도된 2단계 안전망입니다.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17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일상 · 환자 권리 요청 대응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환자가 데이터 삭제를 요청할 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5A5A5A"/>
                </a:solidFill>
                <a:latin typeface="맑은 고딕"/>
              </a:rPr>
              <a:t>PIPA(한국) + GDPR(EU) 30일 처리 의무. 매우 중요.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10881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624328"/>
            <a:ext cx="347472" cy="347472"/>
          </a:xfrm>
          <a:prstGeom prst="rect">
            <a:avLst/>
          </a:prstGeom>
          <a:solidFill>
            <a:srgbClr val="C45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42616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5877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2A2A2A"/>
                </a:solidFill>
                <a:latin typeface="맑은 고딕"/>
              </a:rPr>
              <a:t>이메일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25496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glowupinseoul@gmail.com 으로 "erasure request" 또는 "개인정보 삭제 요청" 수신.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18104"/>
            <a:ext cx="10881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27832"/>
            <a:ext cx="347472" cy="347472"/>
          </a:xfrm>
          <a:prstGeom prst="rect">
            <a:avLst/>
          </a:prstGeom>
          <a:solidFill>
            <a:srgbClr val="C45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246120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19125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2A2A2A"/>
                </a:solidFill>
                <a:latin typeface="맑은 고딕"/>
              </a:rPr>
              <a:t>본인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42900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해당 환자가 우리와 상담한 적 있는지 메일/WhatsApp 기록으로 확인.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21608"/>
            <a:ext cx="10881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3831336"/>
            <a:ext cx="347472" cy="347472"/>
          </a:xfrm>
          <a:prstGeom prst="rect">
            <a:avLst/>
          </a:prstGeom>
          <a:solidFill>
            <a:srgbClr val="C45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849624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794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2A2A2A"/>
                </a:solidFill>
                <a:latin typeface="맑은 고딕"/>
              </a:rPr>
              <a:t>관련 데이터 찾기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032504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[실시간 피드] 메뉴에서 검색 → 공개 OFF 또는 행 삭제.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325112"/>
            <a:ext cx="10881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4434840"/>
            <a:ext cx="347472" cy="347472"/>
          </a:xfrm>
          <a:prstGeom prst="rect">
            <a:avLst/>
          </a:prstGeom>
          <a:solidFill>
            <a:srgbClr val="C45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453128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39826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2A2A2A"/>
                </a:solidFill>
                <a:latin typeface="맑은 고딕"/>
              </a:rPr>
              <a:t>스캔 기록 삭제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63600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별도 보관분은 개발자에게 위탁: "세션 토큰 XXX 삭제".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928616"/>
            <a:ext cx="10881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5038344"/>
            <a:ext cx="347472" cy="347472"/>
          </a:xfrm>
          <a:prstGeom prst="rect">
            <a:avLst/>
          </a:prstGeom>
          <a:solidFill>
            <a:srgbClr val="C45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056632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0176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2A2A2A"/>
                </a:solidFill>
                <a:latin typeface="맑은 고딕"/>
              </a:rPr>
              <a:t>회신 + 기록 보존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5239512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환자에게 "30일 내 완료" 회신. 회신 메일 캡쳐 보관 (분쟁 증거).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806440"/>
            <a:ext cx="10881360" cy="914400"/>
          </a:xfrm>
          <a:prstGeom prst="rect">
            <a:avLst/>
          </a:prstGeom>
          <a:solidFill>
            <a:srgbClr val="FA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5806440"/>
            <a:ext cx="54864" cy="914400"/>
          </a:xfrm>
          <a:prstGeom prst="rect">
            <a:avLst/>
          </a:prstGeom>
          <a:solidFill>
            <a:srgbClr val="C45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9436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4554D"/>
                </a:solidFill>
                <a:latin typeface="맑은 고딕"/>
              </a:rPr>
              <a:t>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59436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30일 데드라인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62636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법적 의무 — 처리 누락 시 PIPA + GDPR 위반. 항상 회신 우선.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18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막혔을 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누구에게 어떻게 연락하나요?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3520440" cy="1554480"/>
          </a:xfrm>
          <a:prstGeom prst="rect">
            <a:avLst/>
          </a:prstGeom>
          <a:solidFill>
            <a:srgbClr val="E8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54864" cy="155448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Admin 화면이 안 열려요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1. Ctrl+F5 새로고침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2. 그래도 안 되면 개발자 연락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194560"/>
            <a:ext cx="3520440" cy="1554480"/>
          </a:xfrm>
          <a:prstGeom prst="rect">
            <a:avLst/>
          </a:prstGeom>
          <a:solidFill>
            <a:srgbClr val="E8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194560"/>
            <a:ext cx="54864" cy="155448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3317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저장했는데 사이트에 안 보여요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78892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1. 계약 상태 '활성' 확인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2. 사진 채웠는지 확인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3. 새로고침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194560"/>
            <a:ext cx="3520440" cy="1554480"/>
          </a:xfrm>
          <a:prstGeom prst="rect">
            <a:avLst/>
          </a:prstGeom>
          <a:solidFill>
            <a:srgbClr val="FA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194560"/>
            <a:ext cx="54864" cy="1554480"/>
          </a:xfrm>
          <a:prstGeom prst="rect">
            <a:avLst/>
          </a:prstGeom>
          <a:solidFill>
            <a:srgbClr val="C45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3317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환자가 데이터 삭제 요청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78892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1. 30일 이내 처리 의무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2. 직전 슬라이드 5단계대로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931920"/>
            <a:ext cx="3520440" cy="1554480"/>
          </a:xfrm>
          <a:prstGeom prst="rect">
            <a:avLst/>
          </a:prstGeom>
          <a:solidFill>
            <a:srgbClr val="FA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931920"/>
            <a:ext cx="54864" cy="1554480"/>
          </a:xfrm>
          <a:prstGeom prst="rect">
            <a:avLst/>
          </a:prstGeom>
          <a:solidFill>
            <a:srgbClr val="C45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0690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환자가 부작용을 호소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2628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1. 즉시 해당 병원 연락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2. 변호사 자문 검토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3. 기록 남김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3931920"/>
            <a:ext cx="3520440" cy="1554480"/>
          </a:xfrm>
          <a:prstGeom prst="rect">
            <a:avLst/>
          </a:prstGeom>
          <a:solidFill>
            <a:srgbClr val="E8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931920"/>
            <a:ext cx="54864" cy="155448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0690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법적인 질문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52628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1차: Privacy Policy 페이지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2차: 변호사 상담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3931920"/>
            <a:ext cx="3520440" cy="1554480"/>
          </a:xfrm>
          <a:prstGeom prst="rect">
            <a:avLst/>
          </a:prstGeom>
          <a:solidFill>
            <a:srgbClr val="E8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3931920"/>
            <a:ext cx="54864" cy="155448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40690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기능을 추가하고 싶어요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52628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운영자에게 한 줄로 요청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개발자가 구현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897880"/>
            <a:ext cx="10881360" cy="914400"/>
          </a:xfrm>
          <a:prstGeom prst="rect">
            <a:avLst/>
          </a:prstGeom>
          <a:solidFill>
            <a:srgbClr val="E8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5897880"/>
            <a:ext cx="54864" cy="9144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60350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9A063"/>
                </a:solidFill>
                <a:latin typeface="맑은 고딕"/>
              </a:rPr>
              <a:t>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603504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주요 연락처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635508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개발자(태희) WhatsApp · 운영자 슬랙/카톡 · 변호사(추후) · glowupinseoul@gmail.com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19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마무리 · 일상 체크리스트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운영 리듬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5A5A5A"/>
                </a:solidFill>
                <a:latin typeface="맑은 고딕"/>
              </a:rPr>
              <a:t>처음 등록을 끝낸 후엔 이 리듬으로 유지하시면 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97480"/>
            <a:ext cx="352044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697480"/>
            <a:ext cx="3520440" cy="4572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매일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□  [파트너 신청서] 새 항목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947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□  WhatsApp 새 메시지 응답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519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□  새 옵트인 후기 확인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697480"/>
            <a:ext cx="352044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2697480"/>
            <a:ext cx="3520440" cy="4572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2788920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매주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3375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□  [실시간 피드] 오래된 시드 정리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7947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□  새 B&amp;A 사진 동의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2519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□  파트너 신청 검토 대기 정리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2697480"/>
            <a:ext cx="352044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2697480"/>
            <a:ext cx="3520440" cy="4572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2788920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매월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3375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□  병원 가격·이벤트 최신화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7947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□  의사 변경 사항 반영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2519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□  Privacy Policy 변경 사항 검토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7091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□  새 시술 추가 (시장 반영)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1">
                <a:solidFill>
                  <a:srgbClr val="C9A063"/>
                </a:solidFill>
                <a:latin typeface="맑은 고딕"/>
              </a:rPr>
              <a:t>✦  Your Skin. Your Story. Seoul.  —  글로업 서울 운영팀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