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852160"/>
            <a:ext cx="12191695" cy="73152"/>
          </a:xfrm>
          <a:prstGeom prst="rect">
            <a:avLst/>
          </a:prstGeom>
          <a:solidFill>
            <a:srgbClr val="C9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82296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C9A063"/>
                </a:solidFill>
                <a:latin typeface="맑은 고딕"/>
              </a:rPr>
              <a:t>✦  GLOW UP SEOUL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200" b="1" i="0">
                <a:solidFill>
                  <a:srgbClr val="2A2A2A"/>
                </a:solidFill>
                <a:latin typeface="맑은 고딕"/>
              </a:rPr>
              <a:t>운영 가이드북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0040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 i="1">
                <a:solidFill>
                  <a:srgbClr val="5A5A5A"/>
                </a:solidFill>
                <a:latin typeface="맑은 고딕"/>
              </a:rPr>
              <a:t>Admin 화면 사용법 · 비개발자용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8463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5A5A5A"/>
                </a:solidFill>
                <a:latin typeface="맑은 고딕"/>
              </a:rPr>
              <a:t>처음 한 번 정독한 뒤,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2120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5A5A5A"/>
                </a:solidFill>
                <a:latin typeface="맑은 고딕"/>
              </a:rPr>
              <a:t>필요할 때마다 해당 챕터만 다시 보시면 됩니다.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62179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8A8A8A"/>
                </a:solidFill>
                <a:latin typeface="맑은 고딕"/>
              </a:rPr>
              <a:t>v1 · 2026-05-14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621792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 i="0">
                <a:solidFill>
                  <a:srgbClr val="8A8A8A"/>
                </a:solidFill>
                <a:latin typeface="맑은 고딕"/>
              </a:rPr>
              <a:t>문의 · glowupinseoul@gmail.com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9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8A8A8A"/>
                </a:solidFill>
                <a:latin typeface="맑은 고딕"/>
              </a:rPr>
              <a:t>✦  Glow Up Seoul · 운영 가이드북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0" i="0">
                <a:solidFill>
                  <a:srgbClr val="8A8A8A"/>
                </a:solidFill>
                <a:latin typeface="Calibri"/>
              </a:rPr>
              <a:t>2 / 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C9A063"/>
                </a:solidFill>
                <a:latin typeface="맑은 고딕"/>
              </a:rPr>
              <a:t>◇  시작하기 전에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2A2A2A"/>
                </a:solidFill>
                <a:latin typeface="맑은 고딕"/>
              </a:rPr>
              <a:t>이 가이드는 누구를 위한 것인가요?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1">
                <a:solidFill>
                  <a:srgbClr val="5A5A5A"/>
                </a:solidFill>
                <a:latin typeface="맑은 고딕"/>
              </a:rPr>
              <a:t>글로업 서울의 운영을 도와주시는 분 — 즉 당신을 위한 것입니다.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346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2A2A2A"/>
                </a:solidFill>
                <a:latin typeface="맑은 고딕"/>
              </a:rPr>
              <a:t>이 가이드는 다음을 가정합니다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38328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C9A063"/>
                </a:solidFill>
                <a:latin typeface="맑은 고딕"/>
              </a:rPr>
              <a:t>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383280"/>
            <a:ext cx="10241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2A2A2A"/>
                </a:solidFill>
                <a:latin typeface="맑은 고딕"/>
              </a:rPr>
              <a:t>프로그래밍을 모르셔도 됩니다. 코드 한 줄도 안 나옵니다.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88620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C9A063"/>
                </a:solidFill>
                <a:latin typeface="맑은 고딕"/>
              </a:rPr>
              <a:t>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886200"/>
            <a:ext cx="10241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2A2A2A"/>
                </a:solidFill>
                <a:latin typeface="맑은 고딕"/>
              </a:rPr>
              <a:t>관리자 페이지(Admin)에 들어가는 방법은 알고 있다고 봅니다.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38912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C9A063"/>
                </a:solidFill>
                <a:latin typeface="맑은 고딕"/>
              </a:rPr>
              <a:t>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389120"/>
            <a:ext cx="10241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2A2A2A"/>
                </a:solidFill>
                <a:latin typeface="맑은 고딕"/>
              </a:rPr>
              <a:t>병원·시술·환자 후기 등을 직접 입력하실 분입니다.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89204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C9A063"/>
                </a:solidFill>
                <a:latin typeface="맑은 고딕"/>
              </a:rPr>
              <a:t>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892040"/>
            <a:ext cx="10241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2A2A2A"/>
                </a:solidFill>
                <a:latin typeface="맑은 고딕"/>
              </a:rPr>
              <a:t>막혔을 때 누구에게 물어볼지는 알고 계십니다 (마지막 슬라이드 참고).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5577840"/>
            <a:ext cx="10881360" cy="914400"/>
          </a:xfrm>
          <a:prstGeom prst="rect">
            <a:avLst/>
          </a:prstGeom>
          <a:solidFill>
            <a:srgbClr val="E8D4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5577840"/>
            <a:ext cx="54864" cy="914400"/>
          </a:xfrm>
          <a:prstGeom prst="rect">
            <a:avLst/>
          </a:prstGeom>
          <a:solidFill>
            <a:srgbClr val="C9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71500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0">
                <a:solidFill>
                  <a:srgbClr val="C9A063"/>
                </a:solidFill>
                <a:latin typeface="맑은 고딕"/>
              </a:rPr>
              <a:t>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5715000"/>
            <a:ext cx="9875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2A2A2A"/>
                </a:solidFill>
                <a:latin typeface="맑은 고딕"/>
              </a:rPr>
              <a:t>딱 한 가지 약속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6035040"/>
            <a:ext cx="9875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5A5A5A"/>
                </a:solidFill>
                <a:latin typeface="맑은 고딕"/>
              </a:rPr>
              <a:t>이 가이드의 순서대로 따라가시면 사이트가 정상 작동합니다. 순서를 건너뛰면 사이트가 텅 비거나 잘못된 정보가 보일 수 있어요.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9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8A8A8A"/>
                </a:solidFill>
                <a:latin typeface="맑은 고딕"/>
              </a:rPr>
              <a:t>✦  Glow Up Seoul · 운영 가이드북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0" i="0">
                <a:solidFill>
                  <a:srgbClr val="8A8A8A"/>
                </a:solidFill>
                <a:latin typeface="Calibri"/>
              </a:rPr>
              <a:t>3 / 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C9A063"/>
                </a:solidFill>
                <a:latin typeface="맑은 고딕"/>
              </a:rPr>
              <a:t>◇  먼저 익숙해지기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2A2A2A"/>
                </a:solidFill>
                <a:latin typeface="맑은 고딕"/>
              </a:rPr>
              <a:t>Admin 화면의 구조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202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1">
                <a:solidFill>
                  <a:srgbClr val="5A5A5A"/>
                </a:solidFill>
                <a:latin typeface="맑은 고딕"/>
              </a:rPr>
              <a:t>왼쪽 메뉴 9개. 각 메뉴는 한 가지 데이터를 다룹니다.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743200"/>
            <a:ext cx="329184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E1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880360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C9A063"/>
                </a:solidFill>
                <a:latin typeface="맑은 고딕"/>
              </a:rPr>
              <a:t>사이드바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46120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2A2A2A"/>
                </a:solidFill>
                <a:latin typeface="맑은 고딕"/>
              </a:rPr>
              <a:t>📊  대시보드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538728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2A2A2A"/>
                </a:solidFill>
                <a:latin typeface="맑은 고딕"/>
              </a:rPr>
              <a:t>📥  파트너 신청서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31336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2A2A2A"/>
                </a:solidFill>
                <a:latin typeface="맑은 고딕"/>
              </a:rPr>
              <a:t>🏥  병원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123944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2A2A2A"/>
                </a:solidFill>
                <a:latin typeface="맑은 고딕"/>
              </a:rPr>
              <a:t>✦  시술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416552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2A2A2A"/>
                </a:solidFill>
                <a:latin typeface="맑은 고딕"/>
              </a:rPr>
              <a:t>◇  카테고리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709160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2A2A2A"/>
                </a:solidFill>
                <a:latin typeface="맑은 고딕"/>
              </a:rPr>
              <a:t>✿  고민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01768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2A2A2A"/>
                </a:solidFill>
                <a:latin typeface="맑은 고딕"/>
              </a:rPr>
              <a:t>👤  의사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294376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2A2A2A"/>
                </a:solidFill>
                <a:latin typeface="맑은 고딕"/>
              </a:rPr>
              <a:t>📸  전후사진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586984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2A2A2A"/>
                </a:solidFill>
                <a:latin typeface="맑은 고딕"/>
              </a:rPr>
              <a:t>📰  실시간 피드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879592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2A2A2A"/>
                </a:solidFill>
                <a:latin typeface="맑은 고딕"/>
              </a:rPr>
              <a:t>🔗  고민↔시술 매트릭스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27432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 i="0">
                <a:solidFill>
                  <a:srgbClr val="2A2A2A"/>
                </a:solidFill>
                <a:latin typeface="맑은 고딕"/>
              </a:rPr>
              <a:t>메뉴별 사용 빈도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97680" y="3246120"/>
            <a:ext cx="731520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1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97680" y="3246120"/>
            <a:ext cx="54864" cy="960120"/>
          </a:xfrm>
          <a:prstGeom prst="rect">
            <a:avLst/>
          </a:prstGeom>
          <a:solidFill>
            <a:srgbClr val="C9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26280" y="3383280"/>
            <a:ext cx="6949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2A2A2A"/>
                </a:solidFill>
                <a:latin typeface="맑은 고딕"/>
              </a:rPr>
              <a:t>자주 가는 곳 (운영의 70%)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3749040"/>
            <a:ext cx="6949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5A5A5A"/>
                </a:solidFill>
                <a:latin typeface="맑은 고딕"/>
              </a:rPr>
              <a:t>병원 · 시술 · 고민↔시술 매트릭스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97680" y="4343400"/>
            <a:ext cx="731520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1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97680" y="4343400"/>
            <a:ext cx="54864" cy="960120"/>
          </a:xfrm>
          <a:prstGeom prst="rect">
            <a:avLst/>
          </a:prstGeom>
          <a:solidFill>
            <a:srgbClr val="C9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26280" y="4480560"/>
            <a:ext cx="6949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2A2A2A"/>
                </a:solidFill>
                <a:latin typeface="맑은 고딕"/>
              </a:rPr>
              <a:t>처음 채우고 잘 안 만지는 곳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26280" y="4846320"/>
            <a:ext cx="6949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5A5A5A"/>
                </a:solidFill>
                <a:latin typeface="맑은 고딕"/>
              </a:rPr>
              <a:t>카테고리 · 의사 · 전후사진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97680" y="5440680"/>
            <a:ext cx="731520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1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297680" y="5440680"/>
            <a:ext cx="54864" cy="960120"/>
          </a:xfrm>
          <a:prstGeom prst="rect">
            <a:avLst/>
          </a:prstGeom>
          <a:solidFill>
            <a:srgbClr val="C9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26280" y="5577840"/>
            <a:ext cx="6949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2A2A2A"/>
                </a:solidFill>
                <a:latin typeface="맑은 고딕"/>
              </a:rPr>
              <a:t>매일 보는 곳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26280" y="5943600"/>
            <a:ext cx="6949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5A5A5A"/>
                </a:solidFill>
                <a:latin typeface="맑은 고딕"/>
              </a:rPr>
              <a:t>대시보드 (전체 카운트) · 파트너 신청서 (새 신청)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9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8A8A8A"/>
                </a:solidFill>
                <a:latin typeface="맑은 고딕"/>
              </a:rPr>
              <a:t>✦  Glow Up Seoul · 운영 가이드북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0" i="0">
                <a:solidFill>
                  <a:srgbClr val="8A8A8A"/>
                </a:solidFill>
                <a:latin typeface="Calibri"/>
              </a:rPr>
              <a:t>4 / 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C9A063"/>
                </a:solidFill>
                <a:latin typeface="맑은 고딕"/>
              </a:rPr>
              <a:t>◇  큰 그림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2A2A2A"/>
                </a:solidFill>
                <a:latin typeface="맑은 고딕"/>
              </a:rPr>
              <a:t>어떤 순서로 채워야 하나요?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202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1">
                <a:solidFill>
                  <a:srgbClr val="5A5A5A"/>
                </a:solidFill>
                <a:latin typeface="맑은 고딕"/>
              </a:rPr>
              <a:t>데이터는 서로 연결돼 있어서 순서가 중요합니다.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606040"/>
            <a:ext cx="53949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1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606040"/>
            <a:ext cx="73152" cy="960120"/>
          </a:xfrm>
          <a:prstGeom prst="rect">
            <a:avLst/>
          </a:prstGeom>
          <a:solidFill>
            <a:srgbClr val="C9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770632"/>
            <a:ext cx="640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C9A063"/>
                </a:solidFill>
                <a:latin typeface="Calibri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770632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2A2A2A"/>
                </a:solidFill>
                <a:latin typeface="맑은 고딕"/>
              </a:rPr>
              <a:t>카테고리 사진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3136392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5A5A5A"/>
                </a:solidFill>
                <a:latin typeface="맑은 고딕"/>
              </a:rPr>
              <a:t>(자동 완료) 사진만 추가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2606040"/>
            <a:ext cx="53949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1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2606040"/>
            <a:ext cx="73152" cy="960120"/>
          </a:xfrm>
          <a:prstGeom prst="rect">
            <a:avLst/>
          </a:prstGeom>
          <a:solidFill>
            <a:srgbClr val="C9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2770632"/>
            <a:ext cx="640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C9A063"/>
                </a:solidFill>
                <a:latin typeface="Calibri"/>
              </a:rPr>
              <a:t>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78040" y="2770632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2A2A2A"/>
                </a:solidFill>
                <a:latin typeface="맑은 고딕"/>
              </a:rPr>
              <a:t>고민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3136392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5A5A5A"/>
                </a:solidFill>
                <a:latin typeface="맑은 고딕"/>
              </a:rPr>
              <a:t>고객 검색 키워드 (Lifting · Wrinkles 등)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749040"/>
            <a:ext cx="53949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1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3749040"/>
            <a:ext cx="73152" cy="960120"/>
          </a:xfrm>
          <a:prstGeom prst="rect">
            <a:avLst/>
          </a:prstGeom>
          <a:solidFill>
            <a:srgbClr val="C9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3913632"/>
            <a:ext cx="640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C9A063"/>
                </a:solidFill>
                <a:latin typeface="Calibri"/>
              </a:rPr>
              <a:t>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3913632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2A2A2A"/>
                </a:solidFill>
                <a:latin typeface="맑은 고딕"/>
              </a:rPr>
              <a:t>시술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4279392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5A5A5A"/>
                </a:solidFill>
                <a:latin typeface="맑은 고딕"/>
              </a:rPr>
              <a:t>우리가 다루는 시술 카탈로그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60" y="3749040"/>
            <a:ext cx="53949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1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09360" y="3749040"/>
            <a:ext cx="73152" cy="960120"/>
          </a:xfrm>
          <a:prstGeom prst="rect">
            <a:avLst/>
          </a:prstGeom>
          <a:solidFill>
            <a:srgbClr val="C9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37960" y="3913632"/>
            <a:ext cx="640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C9A063"/>
                </a:solidFill>
                <a:latin typeface="Calibri"/>
              </a:rPr>
              <a:t>④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78040" y="3913632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2A2A2A"/>
                </a:solidFill>
                <a:latin typeface="맑은 고딕"/>
              </a:rPr>
              <a:t>매트릭스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78040" y="4279392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5A5A5A"/>
                </a:solidFill>
                <a:latin typeface="맑은 고딕"/>
              </a:rPr>
              <a:t>고민 ↔ 시술 연결 (⭐ 가장 중요)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4892040"/>
            <a:ext cx="53949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1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0080" y="4892040"/>
            <a:ext cx="73152" cy="960120"/>
          </a:xfrm>
          <a:prstGeom prst="rect">
            <a:avLst/>
          </a:prstGeom>
          <a:solidFill>
            <a:srgbClr val="C9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680" y="5056632"/>
            <a:ext cx="640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C9A063"/>
                </a:solidFill>
                <a:latin typeface="Calibri"/>
              </a:rPr>
              <a:t>⑤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08760" y="5056632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2A2A2A"/>
                </a:solidFill>
                <a:latin typeface="맑은 고딕"/>
              </a:rPr>
              <a:t>병원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08760" y="5422392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5A5A5A"/>
                </a:solidFill>
                <a:latin typeface="맑은 고딕"/>
              </a:rPr>
              <a:t>위 모든 것을 사용해서 등록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09360" y="4892040"/>
            <a:ext cx="53949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1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309360" y="4892040"/>
            <a:ext cx="73152" cy="960120"/>
          </a:xfrm>
          <a:prstGeom prst="rect">
            <a:avLst/>
          </a:prstGeom>
          <a:solidFill>
            <a:srgbClr val="C9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37960" y="5056632"/>
            <a:ext cx="640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C9A063"/>
                </a:solidFill>
                <a:latin typeface="Calibri"/>
              </a:rPr>
              <a:t>⑥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78040" y="5056632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2A2A2A"/>
                </a:solidFill>
                <a:latin typeface="맑은 고딕"/>
              </a:rPr>
              <a:t>실시간 피드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78040" y="5422392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5A5A5A"/>
                </a:solidFill>
                <a:latin typeface="맑은 고딕"/>
              </a:rPr>
              <a:t>메인 화면 후기 부트스트랩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" y="5852160"/>
            <a:ext cx="10881360" cy="914400"/>
          </a:xfrm>
          <a:prstGeom prst="rect">
            <a:avLst/>
          </a:prstGeom>
          <a:solidFill>
            <a:srgbClr val="FA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40080" y="5852160"/>
            <a:ext cx="54864" cy="914400"/>
          </a:xfrm>
          <a:prstGeom prst="rect">
            <a:avLst/>
          </a:prstGeom>
          <a:solidFill>
            <a:srgbClr val="C455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598932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0">
                <a:solidFill>
                  <a:srgbClr val="C4554D"/>
                </a:solidFill>
                <a:latin typeface="맑은 고딕"/>
              </a:rPr>
              <a:t>⚠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17320" y="5989320"/>
            <a:ext cx="9875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2A2A2A"/>
                </a:solidFill>
                <a:latin typeface="맑은 고딕"/>
              </a:rPr>
              <a:t>순서를 어기지 마세요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417320" y="6309360"/>
            <a:ext cx="9875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5A5A5A"/>
                </a:solidFill>
                <a:latin typeface="맑은 고딕"/>
              </a:rPr>
              <a:t>예: 시술이 없는 상태에서 병원에 시술 가격표를 추가하려고 하면, 선택할 시술이 없어서 막힙니다.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9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8A8A8A"/>
                </a:solidFill>
                <a:latin typeface="맑은 고딕"/>
              </a:rPr>
              <a:t>✦  Glow Up Seoul · 운영 가이드북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0" i="0">
                <a:solidFill>
                  <a:srgbClr val="8A8A8A"/>
                </a:solidFill>
                <a:latin typeface="Calibri"/>
              </a:rPr>
              <a:t>5 / 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C4554D"/>
                </a:solidFill>
                <a:latin typeface="맑은 고딕"/>
              </a:rPr>
              <a:t>⚠  미리 알아두기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2A2A2A"/>
                </a:solidFill>
                <a:latin typeface="맑은 고딕"/>
              </a:rPr>
              <a:t>가장 자주 빠지는 함정 5가지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202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1">
                <a:solidFill>
                  <a:srgbClr val="5A5A5A"/>
                </a:solidFill>
                <a:latin typeface="맑은 고딕"/>
              </a:rPr>
              <a:t>본격 시작 전에 이 다섯 가지만 미리 알아두세요.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606040"/>
            <a:ext cx="1088136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1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2770632"/>
            <a:ext cx="411480" cy="411480"/>
          </a:xfrm>
          <a:prstGeom prst="rect">
            <a:avLst/>
          </a:prstGeom>
          <a:solidFill>
            <a:srgbClr val="C455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807208"/>
            <a:ext cx="411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715768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2A2A2A"/>
                </a:solidFill>
                <a:latin typeface="맑은 고딕"/>
              </a:rPr>
              <a:t>'계약 상태' 가 '활성' 이 아니에요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3017520"/>
            <a:ext cx="10058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5A5A5A"/>
                </a:solidFill>
                <a:latin typeface="맑은 고딕"/>
              </a:rPr>
              <a:t>기본값이 '대기 중'이라 사이트에 안 보여요. 저장 후 꼭 '활성'으로.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392424"/>
            <a:ext cx="1088136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1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3557016"/>
            <a:ext cx="411480" cy="411480"/>
          </a:xfrm>
          <a:prstGeom prst="rect">
            <a:avLst/>
          </a:prstGeom>
          <a:solidFill>
            <a:srgbClr val="C455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593592"/>
            <a:ext cx="411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502152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2A2A2A"/>
                </a:solidFill>
                <a:latin typeface="맑은 고딕"/>
              </a:rPr>
              <a:t>URL 식별자 한 번 정하면 절대 바꾸지 마세요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3803904"/>
            <a:ext cx="10058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5A5A5A"/>
                </a:solidFill>
                <a:latin typeface="맑은 고딕"/>
              </a:rPr>
              <a:t>외부 링크와 사진 폴더가 이 이름으로 묶여 있어 바꾸면 다 깨집니다.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178808"/>
            <a:ext cx="1088136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1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" y="4343400"/>
            <a:ext cx="411480" cy="411480"/>
          </a:xfrm>
          <a:prstGeom prst="rect">
            <a:avLst/>
          </a:prstGeom>
          <a:solidFill>
            <a:srgbClr val="C455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379976"/>
            <a:ext cx="411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4288536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2A2A2A"/>
                </a:solidFill>
                <a:latin typeface="맑은 고딕"/>
              </a:rPr>
              <a:t>전후사진 — 환자 서면 동의 없이 절대 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4590288"/>
            <a:ext cx="10058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5A5A5A"/>
                </a:solidFill>
                <a:latin typeface="맑은 고딕"/>
              </a:rPr>
              <a:t>한국 개인정보보호법(PIPA) 위반. '동의 받음' 체크 꼭 확인.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4965192"/>
            <a:ext cx="1088136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1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960" y="5129784"/>
            <a:ext cx="411480" cy="411480"/>
          </a:xfrm>
          <a:prstGeom prst="rect">
            <a:avLst/>
          </a:prstGeom>
          <a:solidFill>
            <a:srgbClr val="C455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5166360"/>
            <a:ext cx="411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17320" y="50749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2A2A2A"/>
                </a:solidFill>
                <a:latin typeface="맑은 고딕"/>
              </a:rPr>
              <a:t>사진을 비워두지 마세요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17320" y="5376672"/>
            <a:ext cx="10058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5A5A5A"/>
                </a:solidFill>
                <a:latin typeface="맑은 고딕"/>
              </a:rPr>
              <a:t>썸네일 비어있으면 사이트 카드가 회색 박스로 표시됩니다.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5751576"/>
            <a:ext cx="1088136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1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22960" y="5916168"/>
            <a:ext cx="411480" cy="411480"/>
          </a:xfrm>
          <a:prstGeom prst="rect">
            <a:avLst/>
          </a:prstGeom>
          <a:solidFill>
            <a:srgbClr val="C455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5952744"/>
            <a:ext cx="411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17320" y="5861304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2A2A2A"/>
                </a:solidFill>
                <a:latin typeface="맑은 고딕"/>
              </a:rPr>
              <a:t>입력 순서를 어기지 마세요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17320" y="6163056"/>
            <a:ext cx="10058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5A5A5A"/>
                </a:solidFill>
                <a:latin typeface="맑은 고딕"/>
              </a:rPr>
              <a:t>다음 슬라이드부터의 순서 그대로 따라가시면 절대 안 막힙니다.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9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8A8A8A"/>
                </a:solidFill>
                <a:latin typeface="맑은 고딕"/>
              </a:rPr>
              <a:t>✦  Glow Up Seoul · 운영 가이드북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0" i="0">
                <a:solidFill>
                  <a:srgbClr val="8A8A8A"/>
                </a:solidFill>
                <a:latin typeface="Calibri"/>
              </a:rPr>
              <a:t>6 / 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C9A063"/>
                </a:solidFill>
                <a:latin typeface="맑은 고딕"/>
              </a:rPr>
              <a:t>STEP 1 · 카테고리 사진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548640"/>
            <a:ext cx="3840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0" i="0">
                <a:solidFill>
                  <a:srgbClr val="8A8A8A"/>
                </a:solidFill>
                <a:latin typeface="맑은 고딕"/>
              </a:rPr>
              <a:t>예상 시간 · 약 15분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2A2A2A"/>
                </a:solidFill>
                <a:latin typeface="맑은 고딕"/>
              </a:rPr>
              <a:t>카테고리 사진 채우기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874519"/>
            <a:ext cx="10881360" cy="685800"/>
          </a:xfrm>
          <a:prstGeom prst="rect">
            <a:avLst/>
          </a:prstGeom>
          <a:solidFill>
            <a:srgbClr val="F2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96596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C9A063"/>
                </a:solidFill>
                <a:latin typeface="맑은 고딕"/>
              </a:rPr>
              <a:t>📍  어디로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48840" y="1947672"/>
            <a:ext cx="92354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2A2A2A"/>
                </a:solidFill>
                <a:latin typeface="맑은 고딕"/>
              </a:rPr>
              <a:t>좌측 메뉴 → [카테고리]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267712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C9A063"/>
                </a:solidFill>
                <a:latin typeface="맑은 고딕"/>
              </a:rPr>
              <a:t>👆  순서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48840" y="2267712"/>
            <a:ext cx="92354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1">
                <a:solidFill>
                  <a:srgbClr val="5A5A5A"/>
                </a:solidFill>
                <a:latin typeface="맑은 고딕"/>
              </a:rPr>
              <a:t>카테고리 → 행 우측 ✏ → 사진 2장 업로드 → 저장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788920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2A2A2A"/>
                </a:solidFill>
                <a:latin typeface="맑은 고딕"/>
              </a:rPr>
              <a:t>✏️  채워야 할 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20040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C4554D"/>
                </a:solidFill>
                <a:latin typeface="맑은 고딕"/>
              </a:rPr>
              <a:t>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200400"/>
            <a:ext cx="6126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2A2A2A"/>
                </a:solidFill>
                <a:latin typeface="맑은 고딕"/>
              </a:rPr>
              <a:t>썸네일 사진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447288"/>
            <a:ext cx="6126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8A8A8A"/>
                </a:solidFill>
                <a:latin typeface="맑은 고딕"/>
              </a:rPr>
              <a:t>작은 카드용 · 약 800×800px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70332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C4554D"/>
                </a:solidFill>
                <a:latin typeface="맑은 고딕"/>
              </a:rPr>
              <a:t>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703320"/>
            <a:ext cx="6126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2A2A2A"/>
                </a:solidFill>
                <a:latin typeface="맑은 고딕"/>
              </a:rPr>
              <a:t>히어로 사진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950208"/>
            <a:ext cx="6126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8A8A8A"/>
                </a:solidFill>
                <a:latin typeface="맑은 고딕"/>
              </a:rPr>
              <a:t>페이지 상단 큰 사진 · 약 1600×900px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20624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C9A063"/>
                </a:solidFill>
                <a:latin typeface="맑은 고딕"/>
              </a:rPr>
              <a:t>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206240"/>
            <a:ext cx="6126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2A2A2A"/>
                </a:solidFill>
                <a:latin typeface="맑은 고딕"/>
              </a:rPr>
              <a:t>기타 정보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453128"/>
            <a:ext cx="6126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8A8A8A"/>
                </a:solidFill>
                <a:latin typeface="맑은 고딕"/>
              </a:rPr>
              <a:t>이름은 자동 입력됨 — 손대지 마세요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69480" y="2788920"/>
            <a:ext cx="4297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2A2A2A"/>
                </a:solidFill>
                <a:latin typeface="맑은 고딕"/>
              </a:rPr>
              <a:t>💡  왜 채우나요?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69480" y="3154680"/>
            <a:ext cx="42976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5A5A5A"/>
                </a:solidFill>
                <a:latin typeface="맑은 고딕"/>
              </a:rPr>
              <a:t>카테고리 8개 (얼굴/눈/코/바디/피부/모발/웰니스/치과) 는 자동으로 만들어져 있어요. 사진만 비어 있는 상태입니다. 사진을 넣으면 메인 화면 그리드에 즉시 반영됩니다.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269480" y="5074920"/>
            <a:ext cx="429768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1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269480" y="5074920"/>
            <a:ext cx="45720" cy="960120"/>
          </a:xfrm>
          <a:prstGeom prst="rect">
            <a:avLst/>
          </a:prstGeom>
          <a:solidFill>
            <a:srgbClr val="C9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52360" y="5184648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2A2A2A"/>
                </a:solidFill>
                <a:latin typeface="맑은 고딕"/>
              </a:rPr>
              <a:t>예시 · 얼굴 (face)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52360" y="5486400"/>
            <a:ext cx="4023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5A5A5A"/>
                </a:solidFill>
                <a:latin typeface="맑은 고딕"/>
              </a:rPr>
              <a:t>썸네일: 얼굴 클로즈업</a:t>
            </a:r>
          </a:p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5A5A5A"/>
                </a:solidFill>
                <a:latin typeface="맑은 고딕"/>
              </a:rPr>
              <a:t>히어로: 클리닉 분위기 사진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5806440"/>
            <a:ext cx="10881360" cy="914400"/>
          </a:xfrm>
          <a:prstGeom prst="rect">
            <a:avLst/>
          </a:prstGeom>
          <a:solidFill>
            <a:srgbClr val="E8D4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0080" y="5806440"/>
            <a:ext cx="54864" cy="914400"/>
          </a:xfrm>
          <a:prstGeom prst="rect">
            <a:avLst/>
          </a:prstGeom>
          <a:solidFill>
            <a:srgbClr val="C9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594360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0">
                <a:solidFill>
                  <a:srgbClr val="C9A063"/>
                </a:solidFill>
                <a:latin typeface="맑은 고딕"/>
              </a:rPr>
              <a:t>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17320" y="5943600"/>
            <a:ext cx="9875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2A2A2A"/>
                </a:solidFill>
                <a:latin typeface="맑은 고딕"/>
              </a:rPr>
              <a:t>카테고리는 새로 만들지 마세요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17320" y="6263640"/>
            <a:ext cx="9875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5A5A5A"/>
                </a:solidFill>
                <a:latin typeface="맑은 고딕"/>
              </a:rPr>
              <a:t>8개가 사이트 분류 체계의 뼈대입니다. 추가/삭제하면 흔들립니다.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9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8A8A8A"/>
                </a:solidFill>
                <a:latin typeface="맑은 고딕"/>
              </a:rPr>
              <a:t>✦  Glow Up Seoul · 운영 가이드북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0" i="0">
                <a:solidFill>
                  <a:srgbClr val="8A8A8A"/>
                </a:solidFill>
                <a:latin typeface="Calibri"/>
              </a:rPr>
              <a:t>7 / 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C9A063"/>
                </a:solidFill>
                <a:latin typeface="맑은 고딕"/>
              </a:rPr>
              <a:t>STEP 1 · 카테고리 사진 — 사이트 어디에 보이나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2A2A2A"/>
                </a:solidFill>
                <a:latin typeface="맑은 고딕"/>
              </a:rPr>
              <a:t>카테고리 사진이 보이는 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202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1">
                <a:solidFill>
                  <a:srgbClr val="5A5A5A"/>
                </a:solidFill>
                <a:latin typeface="맑은 고딕"/>
              </a:rPr>
              <a:t>admin에서 올린 카테고리 사진은 홈의 'Browse by area' 그리드에 그대로 나옵니다.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97480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2A2A2A"/>
                </a:solidFill>
                <a:latin typeface="맑은 고딕"/>
              </a:rPr>
              <a:t>📷  사진 슬롯 (admin 입력)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108960"/>
            <a:ext cx="42062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1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108960"/>
            <a:ext cx="45720" cy="868680"/>
          </a:xfrm>
          <a:prstGeom prst="rect">
            <a:avLst/>
          </a:prstGeom>
          <a:solidFill>
            <a:srgbClr val="C9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" y="3351276"/>
            <a:ext cx="384048" cy="384048"/>
          </a:xfrm>
          <a:prstGeom prst="rect">
            <a:avLst/>
          </a:prstGeom>
          <a:solidFill>
            <a:srgbClr val="C9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3378708"/>
            <a:ext cx="38404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53312" y="3218688"/>
            <a:ext cx="33558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2A2A2A"/>
                </a:solidFill>
                <a:latin typeface="맑은 고딕"/>
              </a:rPr>
              <a:t>thumbnail_url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3474720"/>
            <a:ext cx="33558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1">
                <a:solidFill>
                  <a:srgbClr val="C9A063"/>
                </a:solidFill>
                <a:latin typeface="맑은 고딕"/>
              </a:rPr>
              <a:t>권장 800×800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53312" y="3675888"/>
            <a:ext cx="33558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8A8A8A"/>
                </a:solidFill>
                <a:latin typeface="맑은 고딕"/>
              </a:rPr>
              <a:t>BentoCategories 카드의 작은 사진 (fallback)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087368"/>
            <a:ext cx="42062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1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4087368"/>
            <a:ext cx="45720" cy="868680"/>
          </a:xfrm>
          <a:prstGeom prst="rect">
            <a:avLst/>
          </a:prstGeom>
          <a:solidFill>
            <a:srgbClr val="C9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2" y="4329684"/>
            <a:ext cx="384048" cy="384048"/>
          </a:xfrm>
          <a:prstGeom prst="rect">
            <a:avLst/>
          </a:prstGeom>
          <a:solidFill>
            <a:srgbClr val="C9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4357116"/>
            <a:ext cx="38404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53312" y="4197096"/>
            <a:ext cx="33558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2A2A2A"/>
                </a:solidFill>
                <a:latin typeface="맑은 고딕"/>
              </a:rPr>
              <a:t>hero_image_url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53312" y="4453128"/>
            <a:ext cx="33558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1">
                <a:solidFill>
                  <a:srgbClr val="C9A063"/>
                </a:solidFill>
                <a:latin typeface="맑은 고딕"/>
              </a:rPr>
              <a:t>권장 1600×900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53312" y="4654296"/>
            <a:ext cx="33558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8A8A8A"/>
                </a:solidFill>
                <a:latin typeface="맑은 고딕"/>
              </a:rPr>
              <a:t>카드의 메인 배경 사진 — 우선 사용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74920" y="2697480"/>
            <a:ext cx="6675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2A2A2A"/>
                </a:solidFill>
                <a:latin typeface="맑은 고딕"/>
              </a:rPr>
              <a:t>🌐  실제 사이트 화면 — 박스가 표시된 곳에 사진이 들어가요</a:t>
            </a:r>
          </a:p>
        </p:txBody>
      </p:sp>
      <p:pic>
        <p:nvPicPr>
          <p:cNvPr id="25" name="Picture 24" descr="01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5331" y="3108960"/>
            <a:ext cx="3914297" cy="299008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5074920" y="6135624"/>
            <a:ext cx="6675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950" b="0" i="1">
                <a:solidFill>
                  <a:srgbClr val="8A8A8A"/>
                </a:solidFill>
                <a:latin typeface="맑은 고딕"/>
              </a:rPr>
              <a:t>홈 페이지 → 'Browse by area' 섹션 (8 카드 모두 카테고리 hero/thumbnail)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9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8A8A8A"/>
                </a:solidFill>
                <a:latin typeface="맑은 고딕"/>
              </a:rPr>
              <a:t>✦  Glow Up Seoul · 운영 가이드북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0" i="0">
                <a:solidFill>
                  <a:srgbClr val="8A8A8A"/>
                </a:solidFill>
                <a:latin typeface="Calibri"/>
              </a:rPr>
              <a:t>8 / 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C9A063"/>
                </a:solidFill>
                <a:latin typeface="맑은 고딕"/>
              </a:rPr>
              <a:t>STEP 2 · 고민 등록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548640"/>
            <a:ext cx="3840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0" i="0">
                <a:solidFill>
                  <a:srgbClr val="8A8A8A"/>
                </a:solidFill>
                <a:latin typeface="맑은 고딕"/>
              </a:rPr>
              <a:t>예상 시간 · 약 30분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2A2A2A"/>
                </a:solidFill>
                <a:latin typeface="맑은 고딕"/>
              </a:rPr>
              <a:t>고객의 고민(검색 키워드) 등록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874519"/>
            <a:ext cx="10881360" cy="685800"/>
          </a:xfrm>
          <a:prstGeom prst="rect">
            <a:avLst/>
          </a:prstGeom>
          <a:solidFill>
            <a:srgbClr val="F2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96596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C9A063"/>
                </a:solidFill>
                <a:latin typeface="맑은 고딕"/>
              </a:rPr>
              <a:t>📍  어디로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48840" y="1947672"/>
            <a:ext cx="92354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2A2A2A"/>
                </a:solidFill>
                <a:latin typeface="맑은 고딕"/>
              </a:rPr>
              <a:t>좌측 메뉴 → [고민]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267712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C9A063"/>
                </a:solidFill>
                <a:latin typeface="맑은 고딕"/>
              </a:rPr>
              <a:t>👆  순서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48840" y="2267712"/>
            <a:ext cx="92354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1">
                <a:solidFill>
                  <a:srgbClr val="5A5A5A"/>
                </a:solidFill>
                <a:latin typeface="맑은 고딕"/>
              </a:rPr>
              <a:t>고민 → [+ 새로 만들기] → 필드 입력 → 저장 → 반복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788920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2A2A2A"/>
                </a:solidFill>
                <a:latin typeface="맑은 고딕"/>
              </a:rPr>
              <a:t>✏️  채워야 할 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20040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C4554D"/>
                </a:solidFill>
                <a:latin typeface="맑은 고딕"/>
              </a:rPr>
              <a:t>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200400"/>
            <a:ext cx="6126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2A2A2A"/>
                </a:solidFill>
                <a:latin typeface="맑은 고딕"/>
              </a:rPr>
              <a:t>이름 한국어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447288"/>
            <a:ext cx="6126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8A8A8A"/>
                </a:solidFill>
                <a:latin typeface="맑은 고딕"/>
              </a:rPr>
              <a:t>예: 리프팅 / 여드름 흉터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70332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C4554D"/>
                </a:solidFill>
                <a:latin typeface="맑은 고딕"/>
              </a:rPr>
              <a:t>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703320"/>
            <a:ext cx="6126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2A2A2A"/>
                </a:solidFill>
                <a:latin typeface="맑은 고딕"/>
              </a:rPr>
              <a:t>이름 영어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950208"/>
            <a:ext cx="6126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8A8A8A"/>
                </a:solidFill>
                <a:latin typeface="맑은 고딕"/>
              </a:rPr>
              <a:t>예: Lifting / Acne Scars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20624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C4554D"/>
                </a:solidFill>
                <a:latin typeface="맑은 고딕"/>
              </a:rPr>
              <a:t>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206240"/>
            <a:ext cx="6126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2A2A2A"/>
                </a:solidFill>
                <a:latin typeface="맑은 고딕"/>
              </a:rPr>
              <a:t>이름 중국어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453128"/>
            <a:ext cx="6126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8A8A8A"/>
                </a:solidFill>
                <a:latin typeface="맑은 고딕"/>
              </a:rPr>
              <a:t>중국 시장 80% — 빠뜨리지 마세요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70916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C4554D"/>
                </a:solidFill>
                <a:latin typeface="맑은 고딕"/>
              </a:rPr>
              <a:t>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709160"/>
            <a:ext cx="6126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2A2A2A"/>
                </a:solidFill>
                <a:latin typeface="맑은 고딕"/>
              </a:rPr>
              <a:t>부위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956048"/>
            <a:ext cx="6126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8A8A8A"/>
                </a:solidFill>
                <a:latin typeface="맑은 고딕"/>
              </a:rPr>
              <a:t>얼굴/눈/코/바디/피부 중 하나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21208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C9A063"/>
                </a:solidFill>
                <a:latin typeface="맑은 고딕"/>
              </a:rPr>
              <a:t>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212080"/>
            <a:ext cx="6126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2A2A2A"/>
                </a:solidFill>
                <a:latin typeface="맑은 고딕"/>
              </a:rPr>
              <a:t>URL 식별자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458968"/>
            <a:ext cx="6126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8A8A8A"/>
                </a:solidFill>
                <a:latin typeface="맑은 고딕"/>
              </a:rPr>
              <a:t>비워두면 자동 생성 · 건너뛰세요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69480" y="2788920"/>
            <a:ext cx="4297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2A2A2A"/>
                </a:solidFill>
                <a:latin typeface="맑은 고딕"/>
              </a:rPr>
              <a:t>💡  왜 채우나요?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69480" y="3154680"/>
            <a:ext cx="42976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5A5A5A"/>
                </a:solidFill>
                <a:latin typeface="맑은 고딕"/>
              </a:rPr>
              <a:t>외국인 환자가 "I want lifting" 으로 검색하면, 우리 사이트에 'Lifting' 이라는 고민이 있어야 매칭됩니다. 이 단계가 매칭 결과의 입구를 만듭니다.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69480" y="5074920"/>
            <a:ext cx="429768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1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269480" y="5074920"/>
            <a:ext cx="45720" cy="960120"/>
          </a:xfrm>
          <a:prstGeom prst="rect">
            <a:avLst/>
          </a:prstGeom>
          <a:solidFill>
            <a:srgbClr val="C9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52360" y="5184648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2A2A2A"/>
                </a:solidFill>
                <a:latin typeface="맑은 고딕"/>
              </a:rPr>
              <a:t>예시 · 첫 10개 추천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52360" y="5486400"/>
            <a:ext cx="4023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5A5A5A"/>
                </a:solidFill>
                <a:latin typeface="맑은 고딕"/>
              </a:rPr>
              <a:t>Lifting · Wrinkles · Sagging · Pores · Acne Scars · Dark Circles · Volume Loss · Nose Shape · Eye Shape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" y="5806440"/>
            <a:ext cx="10881360" cy="914400"/>
          </a:xfrm>
          <a:prstGeom prst="rect">
            <a:avLst/>
          </a:prstGeom>
          <a:solidFill>
            <a:srgbClr val="E8D4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40080" y="5806440"/>
            <a:ext cx="54864" cy="914400"/>
          </a:xfrm>
          <a:prstGeom prst="rect">
            <a:avLst/>
          </a:prstGeom>
          <a:solidFill>
            <a:srgbClr val="C9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594360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0">
                <a:solidFill>
                  <a:srgbClr val="C9A063"/>
                </a:solidFill>
                <a:latin typeface="맑은 고딕"/>
              </a:rPr>
              <a:t>✦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417320" y="5943600"/>
            <a:ext cx="9875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2A2A2A"/>
                </a:solidFill>
                <a:latin typeface="맑은 고딕"/>
              </a:rPr>
              <a:t>목표 20~30개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6263640"/>
            <a:ext cx="9875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5A5A5A"/>
                </a:solidFill>
                <a:latin typeface="맑은 고딕"/>
              </a:rPr>
              <a:t>처음엔 인기 10개만 만들어도 사이트가 작동합니다. 나머지는 운영하며 추가.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9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8A8A8A"/>
                </a:solidFill>
                <a:latin typeface="맑은 고딕"/>
              </a:rPr>
              <a:t>✦  Glow Up Seoul · 운영 가이드북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0" i="0">
                <a:solidFill>
                  <a:srgbClr val="8A8A8A"/>
                </a:solidFill>
                <a:latin typeface="Calibri"/>
              </a:rPr>
              <a:t>9 / 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C9A063"/>
                </a:solidFill>
                <a:latin typeface="맑은 고딕"/>
              </a:rPr>
              <a:t>STEP 3 · 시술 등록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548640"/>
            <a:ext cx="3840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0" i="0">
                <a:solidFill>
                  <a:srgbClr val="8A8A8A"/>
                </a:solidFill>
                <a:latin typeface="맑은 고딕"/>
              </a:rPr>
              <a:t>예상 시간 · 약 2시간 (30~50개)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2A2A2A"/>
                </a:solidFill>
                <a:latin typeface="맑은 고딕"/>
              </a:rPr>
              <a:t>시술 카탈로그 등록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874519"/>
            <a:ext cx="10881360" cy="685800"/>
          </a:xfrm>
          <a:prstGeom prst="rect">
            <a:avLst/>
          </a:prstGeom>
          <a:solidFill>
            <a:srgbClr val="F2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96596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C9A063"/>
                </a:solidFill>
                <a:latin typeface="맑은 고딕"/>
              </a:rPr>
              <a:t>📍  어디로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48840" y="1947672"/>
            <a:ext cx="92354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2A2A2A"/>
                </a:solidFill>
                <a:latin typeface="맑은 고딕"/>
              </a:rPr>
              <a:t>좌측 메뉴 → [시술]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267712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C9A063"/>
                </a:solidFill>
                <a:latin typeface="맑은 고딕"/>
              </a:rPr>
              <a:t>👆  순서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48840" y="2267712"/>
            <a:ext cx="92354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1">
                <a:solidFill>
                  <a:srgbClr val="5A5A5A"/>
                </a:solidFill>
                <a:latin typeface="맑은 고딕"/>
              </a:rPr>
              <a:t>시술 → [+ 새로 만들기] → 필드 입력 → 저장 → 반복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788920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2A2A2A"/>
                </a:solidFill>
                <a:latin typeface="맑은 고딕"/>
              </a:rPr>
              <a:t>✏️  채워야 할 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20040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C4554D"/>
                </a:solidFill>
                <a:latin typeface="맑은 고딕"/>
              </a:rPr>
              <a:t>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200400"/>
            <a:ext cx="6126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2A2A2A"/>
                </a:solidFill>
                <a:latin typeface="맑은 고딕"/>
              </a:rPr>
              <a:t>이름 한/영/중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447288"/>
            <a:ext cx="6126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8A8A8A"/>
                </a:solidFill>
                <a:latin typeface="맑은 고딕"/>
              </a:rPr>
              <a:t>예: 울쎄라 / Ulthera Lifting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70332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C4554D"/>
                </a:solidFill>
                <a:latin typeface="맑은 고딕"/>
              </a:rPr>
              <a:t>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703320"/>
            <a:ext cx="6126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2A2A2A"/>
                </a:solidFill>
                <a:latin typeface="맑은 고딕"/>
              </a:rPr>
              <a:t>카테고리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950208"/>
            <a:ext cx="6126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8A8A8A"/>
                </a:solidFill>
                <a:latin typeface="맑은 고딕"/>
              </a:rPr>
              <a:t>8개 중 선택 (콤보박스)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20624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C4554D"/>
                </a:solidFill>
                <a:latin typeface="맑은 고딕"/>
              </a:rPr>
              <a:t>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206240"/>
            <a:ext cx="6126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2A2A2A"/>
                </a:solidFill>
                <a:latin typeface="맑은 고딕"/>
              </a:rPr>
              <a:t>기전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453128"/>
            <a:ext cx="6126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8A8A8A"/>
                </a:solidFill>
                <a:latin typeface="맑은 고딕"/>
              </a:rPr>
              <a:t>HIFU / RF / 필러 등 · 여러 개 가능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70916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C4554D"/>
                </a:solidFill>
                <a:latin typeface="맑은 고딕"/>
              </a:rPr>
              <a:t>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709160"/>
            <a:ext cx="6126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2A2A2A"/>
                </a:solidFill>
                <a:latin typeface="맑은 고딕"/>
              </a:rPr>
              <a:t>강도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956048"/>
            <a:ext cx="6126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8A8A8A"/>
                </a:solidFill>
                <a:latin typeface="맑은 고딕"/>
              </a:rPr>
              <a:t>subtle / moderate / dramatic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21208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C4554D"/>
                </a:solidFill>
                <a:latin typeface="맑은 고딕"/>
              </a:rPr>
              <a:t>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212080"/>
            <a:ext cx="6126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2A2A2A"/>
                </a:solidFill>
                <a:latin typeface="맑은 고딕"/>
              </a:rPr>
              <a:t>회복 기간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458968"/>
            <a:ext cx="6126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8A8A8A"/>
                </a:solidFill>
                <a:latin typeface="맑은 고딕"/>
              </a:rPr>
              <a:t>0~30일 · 시술 후 며칠 쉬어야 하나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71500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C4554D"/>
                </a:solidFill>
                <a:latin typeface="맑은 고딕"/>
              </a:rPr>
              <a:t>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715000"/>
            <a:ext cx="6126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2A2A2A"/>
                </a:solidFill>
                <a:latin typeface="맑은 고딕"/>
              </a:rPr>
              <a:t>통증 강도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5961888"/>
            <a:ext cx="6126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8A8A8A"/>
                </a:solidFill>
                <a:latin typeface="맑은 고딕"/>
              </a:rPr>
              <a:t>0~5 · 0=없음 / 5=매우 아픔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69480" y="2788920"/>
            <a:ext cx="4297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2A2A2A"/>
                </a:solidFill>
                <a:latin typeface="맑은 고딕"/>
              </a:rPr>
              <a:t>💡  왜 채우나요?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69480" y="3154680"/>
            <a:ext cx="42976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5A5A5A"/>
                </a:solidFill>
                <a:latin typeface="맑은 고딕"/>
              </a:rPr>
              <a:t>사이트의 '메뉴판' 입니다. 시술이 없으면 병원이 어떤 시술을 등록할지 선택할 수 없어요. 인기 시술 30개를 먼저 만드세요.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269480" y="5074920"/>
            <a:ext cx="429768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1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269480" y="5074920"/>
            <a:ext cx="45720" cy="960120"/>
          </a:xfrm>
          <a:prstGeom prst="rect">
            <a:avLst/>
          </a:prstGeom>
          <a:solidFill>
            <a:srgbClr val="C9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52360" y="5184648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2A2A2A"/>
                </a:solidFill>
                <a:latin typeface="맑은 고딕"/>
              </a:rPr>
              <a:t>예시 · 우선 만들 30개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52360" y="5486400"/>
            <a:ext cx="4023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5A5A5A"/>
                </a:solidFill>
                <a:latin typeface="맑은 고딕"/>
              </a:rPr>
              <a:t>HIFU · 써마지 · 필러 · 보톡스 · 리쥬란 · 실리프팅 · 코성형 · 쌍커풀 · 지방흡입 등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" y="5806440"/>
            <a:ext cx="10881360" cy="914400"/>
          </a:xfrm>
          <a:prstGeom prst="rect">
            <a:avLst/>
          </a:prstGeom>
          <a:solidFill>
            <a:srgbClr val="E8D4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40080" y="5806440"/>
            <a:ext cx="54864" cy="914400"/>
          </a:xfrm>
          <a:prstGeom prst="rect">
            <a:avLst/>
          </a:prstGeom>
          <a:solidFill>
            <a:srgbClr val="C9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594360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0">
                <a:solidFill>
                  <a:srgbClr val="C9A063"/>
                </a:solidFill>
                <a:latin typeface="맑은 고딕"/>
              </a:rPr>
              <a:t>✦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17320" y="5943600"/>
            <a:ext cx="9875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2A2A2A"/>
                </a:solidFill>
                <a:latin typeface="맑은 고딕"/>
              </a:rPr>
              <a:t>한국어 + 영어 이름 모두 채우기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417320" y="6263640"/>
            <a:ext cx="9875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5A5A5A"/>
                </a:solidFill>
                <a:latin typeface="맑은 고딕"/>
              </a:rPr>
              <a:t>외국인 환자는 영어, 운영자는 한국어로 봅니다.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9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8A8A8A"/>
                </a:solidFill>
                <a:latin typeface="맑은 고딕"/>
              </a:rPr>
              <a:t>✦  Glow Up Seoul · 운영 가이드북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0" i="0">
                <a:solidFill>
                  <a:srgbClr val="8A8A8A"/>
                </a:solidFill>
                <a:latin typeface="Calibri"/>
              </a:rPr>
              <a:t>10 / 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C9A063"/>
                </a:solidFill>
                <a:latin typeface="맑은 고딕"/>
              </a:rPr>
              <a:t>STEP 3 · 시술 사진 — 사이트 어디에 보이나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2A2A2A"/>
                </a:solidFill>
                <a:latin typeface="맑은 고딕"/>
              </a:rPr>
              <a:t>시술 사진이 보이는 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202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1">
                <a:solidFill>
                  <a:srgbClr val="5A5A5A"/>
                </a:solidFill>
                <a:latin typeface="맑은 고딕"/>
              </a:rPr>
              <a:t>시술 thumbnail 은 카드 형태로 거의 모든 페이지에서 노출됩니다. hero/gallery 는 시술 상세 페이지에서.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97480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2A2A2A"/>
                </a:solidFill>
                <a:latin typeface="맑은 고딕"/>
              </a:rPr>
              <a:t>📷  사진 슬롯 (admin 입력)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108960"/>
            <a:ext cx="42062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1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108960"/>
            <a:ext cx="45720" cy="868680"/>
          </a:xfrm>
          <a:prstGeom prst="rect">
            <a:avLst/>
          </a:prstGeom>
          <a:solidFill>
            <a:srgbClr val="C9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" y="3351276"/>
            <a:ext cx="384048" cy="384048"/>
          </a:xfrm>
          <a:prstGeom prst="rect">
            <a:avLst/>
          </a:prstGeom>
          <a:solidFill>
            <a:srgbClr val="C9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3378708"/>
            <a:ext cx="38404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53312" y="3218688"/>
            <a:ext cx="33558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2A2A2A"/>
                </a:solidFill>
                <a:latin typeface="맑은 고딕"/>
              </a:rPr>
              <a:t>thumbnail_url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3474720"/>
            <a:ext cx="33558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1">
                <a:solidFill>
                  <a:srgbClr val="C9A063"/>
                </a:solidFill>
                <a:latin typeface="맑은 고딕"/>
              </a:rPr>
              <a:t>권장 800×600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53312" y="3675888"/>
            <a:ext cx="33558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8A8A8A"/>
                </a:solidFill>
                <a:latin typeface="맑은 고딕"/>
              </a:rPr>
              <a:t>카테고리 그리드 / 매칭 결과 / AI 추천 카드 — 거의 모든 곳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087368"/>
            <a:ext cx="42062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1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4087368"/>
            <a:ext cx="45720" cy="868680"/>
          </a:xfrm>
          <a:prstGeom prst="rect">
            <a:avLst/>
          </a:prstGeom>
          <a:solidFill>
            <a:srgbClr val="C9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2" y="4329684"/>
            <a:ext cx="384048" cy="384048"/>
          </a:xfrm>
          <a:prstGeom prst="rect">
            <a:avLst/>
          </a:prstGeom>
          <a:solidFill>
            <a:srgbClr val="C9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4357116"/>
            <a:ext cx="38404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53312" y="4197096"/>
            <a:ext cx="33558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2A2A2A"/>
                </a:solidFill>
                <a:latin typeface="맑은 고딕"/>
              </a:rPr>
              <a:t>thumbnail_url (또는 gallery_urls[0])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53312" y="4453128"/>
            <a:ext cx="33558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1">
                <a:solidFill>
                  <a:srgbClr val="C9A063"/>
                </a:solidFill>
                <a:latin typeface="맑은 고딕"/>
              </a:rPr>
              <a:t>권장 1600×900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53312" y="4654296"/>
            <a:ext cx="33558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8A8A8A"/>
                </a:solidFill>
                <a:latin typeface="맑은 고딕"/>
              </a:rPr>
              <a:t>시술 상세 페이지 상단 hero 큰 사진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74920" y="2697480"/>
            <a:ext cx="6675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2A2A2A"/>
                </a:solidFill>
                <a:latin typeface="맑은 고딕"/>
              </a:rPr>
              <a:t>🌐  실제 사이트 화면 — 박스가 표시된 곳에 사진이 들어가요</a:t>
            </a:r>
          </a:p>
        </p:txBody>
      </p:sp>
      <p:pic>
        <p:nvPicPr>
          <p:cNvPr id="25" name="Picture 24" descr="02_categ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0239" y="3108960"/>
            <a:ext cx="1204481" cy="134416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5074920" y="4489704"/>
            <a:ext cx="6675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950" b="0" i="1">
                <a:solidFill>
                  <a:srgbClr val="8A8A8A"/>
                </a:solidFill>
                <a:latin typeface="맑은 고딕"/>
              </a:rPr>
              <a:t>카테고리 페이지 → 시술 그리드 카드 (A: thumbnail_url)</a:t>
            </a:r>
          </a:p>
        </p:txBody>
      </p:sp>
      <p:pic>
        <p:nvPicPr>
          <p:cNvPr id="27" name="Picture 26" descr="03_treat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0065" y="4754880"/>
            <a:ext cx="2224829" cy="1344168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5074920" y="6135624"/>
            <a:ext cx="6675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950" b="0" i="1">
                <a:solidFill>
                  <a:srgbClr val="8A8A8A"/>
                </a:solidFill>
                <a:latin typeface="맑은 고딕"/>
              </a:rPr>
              <a:t>시술 상세 페이지 → 상단 hero (B: thumbnail_url 또는 gallery 첫 장)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9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8A8A8A"/>
                </a:solidFill>
                <a:latin typeface="맑은 고딕"/>
              </a:rPr>
              <a:t>✦  Glow Up Seoul · 운영 가이드북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0" i="0">
                <a:solidFill>
                  <a:srgbClr val="8A8A8A"/>
                </a:solidFill>
                <a:latin typeface="Calibri"/>
              </a:rPr>
              <a:t>11 / 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C9A063"/>
                </a:solidFill>
                <a:latin typeface="맑은 고딕"/>
              </a:rPr>
              <a:t>STEP 4 · 매트릭스 (⭐가장 중요)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548640"/>
            <a:ext cx="3840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0" i="0">
                <a:solidFill>
                  <a:srgbClr val="8A8A8A"/>
                </a:solidFill>
                <a:latin typeface="맑은 고딕"/>
              </a:rPr>
              <a:t>예상 시간 · 약 1~2시간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2A2A2A"/>
                </a:solidFill>
                <a:latin typeface="맑은 고딕"/>
              </a:rPr>
              <a:t>고민 ↔ 시술 연결하기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874519"/>
            <a:ext cx="10881360" cy="685800"/>
          </a:xfrm>
          <a:prstGeom prst="rect">
            <a:avLst/>
          </a:prstGeom>
          <a:solidFill>
            <a:srgbClr val="F2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96596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C9A063"/>
                </a:solidFill>
                <a:latin typeface="맑은 고딕"/>
              </a:rPr>
              <a:t>📍  어디로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48840" y="1947672"/>
            <a:ext cx="92354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2A2A2A"/>
                </a:solidFill>
                <a:latin typeface="맑은 고딕"/>
              </a:rPr>
              <a:t>좌측 메뉴 → [고민↔시술 매트릭스]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267712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C9A063"/>
                </a:solidFill>
                <a:latin typeface="맑은 고딕"/>
              </a:rPr>
              <a:t>👆  순서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48840" y="2267712"/>
            <a:ext cx="92354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1">
                <a:solidFill>
                  <a:srgbClr val="5A5A5A"/>
                </a:solidFill>
                <a:latin typeface="맑은 고딕"/>
              </a:rPr>
              <a:t>고민 카드 안 [+ 시술 추가] → 시술 선택 → 관련도 지정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788920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2A2A2A"/>
                </a:solidFill>
                <a:latin typeface="맑은 고딕"/>
              </a:rPr>
              <a:t>✏️  채워야 할 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20040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C4554D"/>
                </a:solidFill>
                <a:latin typeface="맑은 고딕"/>
              </a:rPr>
              <a:t>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200400"/>
            <a:ext cx="6126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2A2A2A"/>
                </a:solidFill>
                <a:latin typeface="맑은 고딕"/>
              </a:rPr>
              <a:t>시술 선택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447288"/>
            <a:ext cx="6126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8A8A8A"/>
                </a:solidFill>
                <a:latin typeface="맑은 고딕"/>
              </a:rPr>
              <a:t>Step 3에서 만든 시술 중에서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70332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C4554D"/>
                </a:solidFill>
                <a:latin typeface="맑은 고딕"/>
              </a:rPr>
              <a:t>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703320"/>
            <a:ext cx="6126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2A2A2A"/>
                </a:solidFill>
                <a:latin typeface="맑은 고딕"/>
              </a:rPr>
              <a:t>관련도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950208"/>
            <a:ext cx="6126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8A8A8A"/>
                </a:solidFill>
                <a:latin typeface="맑은 고딕"/>
              </a:rPr>
              <a:t>primary (1순위) / secondary / adjunct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69480" y="2788920"/>
            <a:ext cx="4297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2A2A2A"/>
                </a:solidFill>
                <a:latin typeface="맑은 고딕"/>
              </a:rPr>
              <a:t>💡  왜 채우나요?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69480" y="3154680"/>
            <a:ext cx="42976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5A5A5A"/>
                </a:solidFill>
                <a:latin typeface="맑은 고딕"/>
              </a:rPr>
              <a:t>매칭 알고리즘의 핵심 재료. 사이트 매칭 품질의 80%가 여기서 결정됩니다. 한 고민당 시술 2~3개씩 연결. 정성 들이는 만큼 결과가 좋아져요.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69480" y="5074920"/>
            <a:ext cx="429768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1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269480" y="5074920"/>
            <a:ext cx="45720" cy="960120"/>
          </a:xfrm>
          <a:prstGeom prst="rect">
            <a:avLst/>
          </a:prstGeom>
          <a:solidFill>
            <a:srgbClr val="C9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52360" y="5184648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2A2A2A"/>
                </a:solidFill>
                <a:latin typeface="맑은 고딕"/>
              </a:rPr>
              <a:t>예시 · Lifting 고민 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52360" y="5486400"/>
            <a:ext cx="4023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5A5A5A"/>
                </a:solidFill>
                <a:latin typeface="맑은 고딕"/>
              </a:rPr>
              <a:t>HIFU (primary) · 실리프팅 (primary) · 써마지 (secondary) · 필러 (adjunct)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5806440"/>
            <a:ext cx="10881360" cy="914400"/>
          </a:xfrm>
          <a:prstGeom prst="rect">
            <a:avLst/>
          </a:prstGeom>
          <a:solidFill>
            <a:srgbClr val="E8D4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" y="5806440"/>
            <a:ext cx="54864" cy="914400"/>
          </a:xfrm>
          <a:prstGeom prst="rect">
            <a:avLst/>
          </a:prstGeom>
          <a:solidFill>
            <a:srgbClr val="C9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94360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0">
                <a:solidFill>
                  <a:srgbClr val="C9A063"/>
                </a:solidFill>
                <a:latin typeface="맑은 고딕"/>
              </a:rPr>
              <a:t>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17320" y="5943600"/>
            <a:ext cx="9875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2A2A2A"/>
                </a:solidFill>
                <a:latin typeface="맑은 고딕"/>
              </a:rPr>
              <a:t>운영의 진짜 가치는 여기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17320" y="6263640"/>
            <a:ext cx="9875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5A5A5A"/>
                </a:solidFill>
                <a:latin typeface="맑은 고딕"/>
              </a:rPr>
              <a:t>어떤 고민에 어떤 시술이 좋은지 — 그 큐레이션이 우리의 차별점입니다.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9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8A8A8A"/>
                </a:solidFill>
                <a:latin typeface="맑은 고딕"/>
              </a:rPr>
              <a:t>✦  Glow Up Seoul · 운영 가이드북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0" i="0">
                <a:solidFill>
                  <a:srgbClr val="8A8A8A"/>
                </a:solidFill>
                <a:latin typeface="Calibri"/>
              </a:rPr>
              <a:t>12 / 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C9A063"/>
                </a:solidFill>
                <a:latin typeface="맑은 고딕"/>
              </a:rPr>
              <a:t>STEP 5 · 병원 등록 (가장 큰 작업)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548640"/>
            <a:ext cx="3840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0" i="0">
                <a:solidFill>
                  <a:srgbClr val="8A8A8A"/>
                </a:solidFill>
                <a:latin typeface="맑은 고딕"/>
              </a:rPr>
              <a:t>예상 시간 · 병원당 약 30분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2A2A2A"/>
                </a:solidFill>
                <a:latin typeface="맑은 고딕"/>
              </a:rPr>
              <a:t>병원 한 곳을 등록하는 4단계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202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1">
                <a:solidFill>
                  <a:srgbClr val="5A5A5A"/>
                </a:solidFill>
                <a:latin typeface="맑은 고딕"/>
              </a:rPr>
              <a:t>한 화면 안에서 4가지를 차례로 채웁니다.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697480"/>
            <a:ext cx="108813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1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697480"/>
            <a:ext cx="73152" cy="777240"/>
          </a:xfrm>
          <a:prstGeom prst="rect">
            <a:avLst/>
          </a:prstGeom>
          <a:solidFill>
            <a:srgbClr val="C9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88036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C9A063"/>
                </a:solidFill>
                <a:latin typeface="Calibri"/>
              </a:rPr>
              <a:t>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2862072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 i="0">
                <a:solidFill>
                  <a:srgbClr val="2A2A2A"/>
                </a:solidFill>
                <a:latin typeface="맑은 고딕"/>
              </a:rPr>
              <a:t>기본 정보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320040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5A5A5A"/>
                </a:solidFill>
                <a:latin typeface="맑은 고딕"/>
              </a:rPr>
              <a:t>병원 이름 · 주소 · 연락처 · 사진 · 응대 언어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566160"/>
            <a:ext cx="108813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1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3566160"/>
            <a:ext cx="73152" cy="777240"/>
          </a:xfrm>
          <a:prstGeom prst="rect">
            <a:avLst/>
          </a:prstGeom>
          <a:solidFill>
            <a:srgbClr val="C9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74904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C9A063"/>
                </a:solidFill>
                <a:latin typeface="Calibri"/>
              </a:rPr>
              <a:t>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3730752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 i="0">
                <a:solidFill>
                  <a:srgbClr val="2A2A2A"/>
                </a:solidFill>
                <a:latin typeface="맑은 고딕"/>
              </a:rPr>
              <a:t>의사 추가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06908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5A5A5A"/>
                </a:solidFill>
                <a:latin typeface="맑은 고딕"/>
              </a:rPr>
              <a:t>병원 소속 의사 사진 + 직책 + 경력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4434840"/>
            <a:ext cx="108813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1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4434840"/>
            <a:ext cx="73152" cy="777240"/>
          </a:xfrm>
          <a:prstGeom prst="rect">
            <a:avLst/>
          </a:prstGeom>
          <a:solidFill>
            <a:srgbClr val="C9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61772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C9A063"/>
                </a:solidFill>
                <a:latin typeface="Calibri"/>
              </a:rPr>
              <a:t>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4599432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 i="0">
                <a:solidFill>
                  <a:srgbClr val="2A2A2A"/>
                </a:solidFill>
                <a:latin typeface="맑은 고딕"/>
              </a:rPr>
              <a:t>시술 가격표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93776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5A5A5A"/>
                </a:solidFill>
                <a:latin typeface="맑은 고딕"/>
              </a:rPr>
              <a:t>이 병원이 제공하는 시술 10~30개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5303520"/>
            <a:ext cx="108813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1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" y="5303520"/>
            <a:ext cx="73152" cy="777240"/>
          </a:xfrm>
          <a:prstGeom prst="rect">
            <a:avLst/>
          </a:prstGeom>
          <a:solidFill>
            <a:srgbClr val="C9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548640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C9A063"/>
                </a:solidFill>
                <a:latin typeface="Calibri"/>
              </a:rPr>
              <a:t>④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8760" y="5468112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 i="0">
                <a:solidFill>
                  <a:srgbClr val="2A2A2A"/>
                </a:solidFill>
                <a:latin typeface="맑은 고딕"/>
              </a:rPr>
              <a:t>전후사진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08760" y="580644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5A5A5A"/>
                </a:solidFill>
                <a:latin typeface="맑은 고딕"/>
              </a:rPr>
              <a:t>환자 동의 받은 before/after 사진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5852160"/>
            <a:ext cx="10881360" cy="914400"/>
          </a:xfrm>
          <a:prstGeom prst="rect">
            <a:avLst/>
          </a:prstGeom>
          <a:solidFill>
            <a:srgbClr val="E8D4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0080" y="5852160"/>
            <a:ext cx="54864" cy="914400"/>
          </a:xfrm>
          <a:prstGeom prst="rect">
            <a:avLst/>
          </a:prstGeom>
          <a:solidFill>
            <a:srgbClr val="C9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598932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0">
                <a:solidFill>
                  <a:srgbClr val="C9A063"/>
                </a:solidFill>
                <a:latin typeface="맑은 고딕"/>
              </a:rPr>
              <a:t>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17320" y="5989320"/>
            <a:ext cx="9875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2A2A2A"/>
                </a:solidFill>
                <a:latin typeface="맑은 고딕"/>
              </a:rPr>
              <a:t>우선 7곳부터 → 전체 22곳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17320" y="6309360"/>
            <a:ext cx="9875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5A5A5A"/>
                </a:solidFill>
                <a:latin typeface="맑은 고딕"/>
              </a:rPr>
              <a:t>Hershe · 노즈립 · 리엔장 강남 · 우아 · 365mc · Vellicell · Soi — 이 7곳 부터 시작하면 사이트가 살아납니다.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9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8A8A8A"/>
                </a:solidFill>
                <a:latin typeface="맑은 고딕"/>
              </a:rPr>
              <a:t>✦  Glow Up Seoul · 운영 가이드북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0" i="0">
                <a:solidFill>
                  <a:srgbClr val="8A8A8A"/>
                </a:solidFill>
                <a:latin typeface="Calibri"/>
              </a:rPr>
              <a:t>13 / 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C9A063"/>
                </a:solidFill>
                <a:latin typeface="맑은 고딕"/>
              </a:rPr>
              <a:t>STEP 5-1 · 병원 기본 정보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548640"/>
            <a:ext cx="3840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0" i="0">
                <a:solidFill>
                  <a:srgbClr val="8A8A8A"/>
                </a:solidFill>
                <a:latin typeface="맑은 고딕"/>
              </a:rPr>
              <a:t>예상 시간 · 병원당 약 10분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2A2A2A"/>
                </a:solidFill>
                <a:latin typeface="맑은 고딕"/>
              </a:rPr>
              <a:t>병원 기본 정보 입력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874519"/>
            <a:ext cx="10881360" cy="685800"/>
          </a:xfrm>
          <a:prstGeom prst="rect">
            <a:avLst/>
          </a:prstGeom>
          <a:solidFill>
            <a:srgbClr val="F2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96596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C9A063"/>
                </a:solidFill>
                <a:latin typeface="맑은 고딕"/>
              </a:rPr>
              <a:t>📍  어디로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48840" y="1947672"/>
            <a:ext cx="92354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2A2A2A"/>
                </a:solidFill>
                <a:latin typeface="맑은 고딕"/>
              </a:rPr>
              <a:t>좌측 메뉴 → [병원] → [+ 새로 만들기]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267712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C9A063"/>
                </a:solidFill>
                <a:latin typeface="맑은 고딕"/>
              </a:rPr>
              <a:t>👆  순서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48840" y="2267712"/>
            <a:ext cx="92354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1">
                <a:solidFill>
                  <a:srgbClr val="5A5A5A"/>
                </a:solidFill>
                <a:latin typeface="맑은 고딕"/>
              </a:rPr>
              <a:t>병원 → [+ 새로 만들기] → '기본 정보' 그룹부터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788920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2A2A2A"/>
                </a:solidFill>
                <a:latin typeface="맑은 고딕"/>
              </a:rPr>
              <a:t>✏️  채워야 할 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20040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C4554D"/>
                </a:solidFill>
                <a:latin typeface="맑은 고딕"/>
              </a:rPr>
              <a:t>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200400"/>
            <a:ext cx="6126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2A2A2A"/>
                </a:solidFill>
                <a:latin typeface="맑은 고딕"/>
              </a:rPr>
              <a:t>간판명 한국어/영어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447288"/>
            <a:ext cx="6126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8A8A8A"/>
                </a:solidFill>
                <a:latin typeface="맑은 고딕"/>
              </a:rPr>
              <a:t>예: 헤르쉬 청담점 / Hershe Cheongdam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70332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C4554D"/>
                </a:solidFill>
                <a:latin typeface="맑은 고딕"/>
              </a:rPr>
              <a:t>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703320"/>
            <a:ext cx="6126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2A2A2A"/>
                </a:solidFill>
                <a:latin typeface="맑은 고딕"/>
              </a:rPr>
              <a:t>도시 · 구 · 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950208"/>
            <a:ext cx="6126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8A8A8A"/>
                </a:solidFill>
                <a:latin typeface="맑은 고딕"/>
              </a:rPr>
              <a:t>예: 서울 · 강남구 · 청담동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20624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C4554D"/>
                </a:solidFill>
                <a:latin typeface="맑은 고딕"/>
              </a:rPr>
              <a:t>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206240"/>
            <a:ext cx="6126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2A2A2A"/>
                </a:solidFill>
                <a:latin typeface="맑은 고딕"/>
              </a:rPr>
              <a:t>응대 언어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453128"/>
            <a:ext cx="6126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8A8A8A"/>
                </a:solidFill>
                <a:latin typeface="맑은 고딕"/>
              </a:rPr>
              <a:t>한/영/중/일 등 · 여러 개 선택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70916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C9A063"/>
                </a:solidFill>
                <a:latin typeface="맑은 고딕"/>
              </a:rPr>
              <a:t>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709160"/>
            <a:ext cx="6126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2A2A2A"/>
                </a:solidFill>
                <a:latin typeface="맑은 고딕"/>
              </a:rPr>
              <a:t>연락처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956048"/>
            <a:ext cx="6126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8A8A8A"/>
                </a:solidFill>
                <a:latin typeface="맑은 고딕"/>
              </a:rPr>
              <a:t>전화 / 카카오 / 위챗 / WhatsApp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21208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C4554D"/>
                </a:solidFill>
                <a:latin typeface="맑은 고딕"/>
              </a:rPr>
              <a:t>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212080"/>
            <a:ext cx="6126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2A2A2A"/>
                </a:solidFill>
                <a:latin typeface="맑은 고딕"/>
              </a:rPr>
              <a:t>사진 (3종)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458968"/>
            <a:ext cx="6126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8A8A8A"/>
                </a:solidFill>
                <a:latin typeface="맑은 고딕"/>
              </a:rPr>
              <a:t>썸네일 · 히어로 · 갤러리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71500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C4554D"/>
                </a:solidFill>
                <a:latin typeface="맑은 고딕"/>
              </a:rPr>
              <a:t>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715000"/>
            <a:ext cx="6126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2A2A2A"/>
                </a:solidFill>
                <a:latin typeface="맑은 고딕"/>
              </a:rPr>
              <a:t>계약 상태 = '활성' ⚠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5961888"/>
            <a:ext cx="6126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8A8A8A"/>
                </a:solidFill>
                <a:latin typeface="맑은 고딕"/>
              </a:rPr>
              <a:t>이거 안 바꾸면 사이트에 안 보임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69480" y="2788920"/>
            <a:ext cx="4297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2A2A2A"/>
                </a:solidFill>
                <a:latin typeface="맑은 고딕"/>
              </a:rPr>
              <a:t>💡  왜 채우나요?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69480" y="3154680"/>
            <a:ext cx="42976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5A5A5A"/>
                </a:solidFill>
                <a:latin typeface="맑은 고딕"/>
              </a:rPr>
              <a:t>병원의 '대문' 정보. 사이트 병원 상세 페이지에 그대로 나타납니다. 외국인 환자가 가장 먼저 보는 화면이에요.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269480" y="5074920"/>
            <a:ext cx="429768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1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269480" y="5074920"/>
            <a:ext cx="45720" cy="960120"/>
          </a:xfrm>
          <a:prstGeom prst="rect">
            <a:avLst/>
          </a:prstGeom>
          <a:solidFill>
            <a:srgbClr val="C9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52360" y="5184648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2A2A2A"/>
                </a:solidFill>
                <a:latin typeface="맑은 고딕"/>
              </a:rPr>
              <a:t>예시 · 브랜드 정보 그룹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52360" y="5486400"/>
            <a:ext cx="4023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5A5A5A"/>
                </a:solidFill>
                <a:latin typeface="맑은 고딕"/>
              </a:rPr>
              <a:t>같은 화면 아래쪽 '브랜드 정보' 그룹에 브랜드명·로고만 채우면 자동으로 브랜드가 등록됩니다.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" y="5806440"/>
            <a:ext cx="10881360" cy="914400"/>
          </a:xfrm>
          <a:prstGeom prst="rect">
            <a:avLst/>
          </a:prstGeom>
          <a:solidFill>
            <a:srgbClr val="FA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40080" y="5806440"/>
            <a:ext cx="54864" cy="914400"/>
          </a:xfrm>
          <a:prstGeom prst="rect">
            <a:avLst/>
          </a:prstGeom>
          <a:solidFill>
            <a:srgbClr val="C455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594360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0">
                <a:solidFill>
                  <a:srgbClr val="C4554D"/>
                </a:solidFill>
                <a:latin typeface="맑은 고딕"/>
              </a:rPr>
              <a:t>⚠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17320" y="5943600"/>
            <a:ext cx="9875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2A2A2A"/>
                </a:solidFill>
                <a:latin typeface="맑은 고딕"/>
              </a:rPr>
              <a:t>계약 상태 = '활성(active)' 꼭 확인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417320" y="6263640"/>
            <a:ext cx="9875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5A5A5A"/>
                </a:solidFill>
                <a:latin typeface="맑은 고딕"/>
              </a:rPr>
              <a:t>기본값은 '대기 중'. 활성으로 바꾸지 않으면 사이트에 절대 안 보입니다. 가장 흔한 실수.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9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8A8A8A"/>
                </a:solidFill>
                <a:latin typeface="맑은 고딕"/>
              </a:rPr>
              <a:t>✦  Glow Up Seoul · 운영 가이드북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0" i="0">
                <a:solidFill>
                  <a:srgbClr val="8A8A8A"/>
                </a:solidFill>
                <a:latin typeface="Calibri"/>
              </a:rPr>
              <a:t>14 / 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C9A063"/>
                </a:solidFill>
                <a:latin typeface="맑은 고딕"/>
              </a:rPr>
              <a:t>STEP 5-1 · 병원 사진 — 사이트 어디에 보이나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2A2A2A"/>
                </a:solidFill>
                <a:latin typeface="맑은 고딕"/>
              </a:rPr>
              <a:t>병원 사진이 보이는 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202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1">
                <a:solidFill>
                  <a:srgbClr val="5A5A5A"/>
                </a:solidFill>
                <a:latin typeface="맑은 고딕"/>
              </a:rPr>
              <a:t>병원 hero 는 병원 상세 페이지 상단의 큰 사진. thumbnail 은 비교 카드에서.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97480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2A2A2A"/>
                </a:solidFill>
                <a:latin typeface="맑은 고딕"/>
              </a:rPr>
              <a:t>📷  사진 슬롯 (admin 입력)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108960"/>
            <a:ext cx="42062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1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108960"/>
            <a:ext cx="45720" cy="868680"/>
          </a:xfrm>
          <a:prstGeom prst="rect">
            <a:avLst/>
          </a:prstGeom>
          <a:solidFill>
            <a:srgbClr val="C9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" y="3351276"/>
            <a:ext cx="384048" cy="384048"/>
          </a:xfrm>
          <a:prstGeom prst="rect">
            <a:avLst/>
          </a:prstGeom>
          <a:solidFill>
            <a:srgbClr val="C9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3378708"/>
            <a:ext cx="38404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53312" y="3218688"/>
            <a:ext cx="33558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2A2A2A"/>
                </a:solidFill>
                <a:latin typeface="맑은 고딕"/>
              </a:rPr>
              <a:t>hero_image_url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3474720"/>
            <a:ext cx="33558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1">
                <a:solidFill>
                  <a:srgbClr val="C9A063"/>
                </a:solidFill>
                <a:latin typeface="맑은 고딕"/>
              </a:rPr>
              <a:t>권장 1600×900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53312" y="3675888"/>
            <a:ext cx="33558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8A8A8A"/>
                </a:solidFill>
                <a:latin typeface="맑은 고딕"/>
              </a:rPr>
              <a:t>병원 상세 페이지 상단의 큰 배경 사진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087368"/>
            <a:ext cx="42062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1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4087368"/>
            <a:ext cx="45720" cy="868680"/>
          </a:xfrm>
          <a:prstGeom prst="rect">
            <a:avLst/>
          </a:prstGeom>
          <a:solidFill>
            <a:srgbClr val="C9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2" y="4329684"/>
            <a:ext cx="384048" cy="384048"/>
          </a:xfrm>
          <a:prstGeom prst="rect">
            <a:avLst/>
          </a:prstGeom>
          <a:solidFill>
            <a:srgbClr val="C9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4357116"/>
            <a:ext cx="38404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53312" y="4197096"/>
            <a:ext cx="33558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2A2A2A"/>
                </a:solidFill>
                <a:latin typeface="맑은 고딕"/>
              </a:rPr>
              <a:t>thumbnail_url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53312" y="4453128"/>
            <a:ext cx="33558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1">
                <a:solidFill>
                  <a:srgbClr val="C9A063"/>
                </a:solidFill>
                <a:latin typeface="맑은 고딕"/>
              </a:rPr>
              <a:t>권장 800×600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53312" y="4654296"/>
            <a:ext cx="33558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8A8A8A"/>
                </a:solidFill>
                <a:latin typeface="맑은 고딕"/>
              </a:rPr>
              <a:t>시술 상세 페이지의 병원 비교 카드 · 디바이스 페이지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065776"/>
            <a:ext cx="42062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1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" y="5065776"/>
            <a:ext cx="45720" cy="868680"/>
          </a:xfrm>
          <a:prstGeom prst="rect">
            <a:avLst/>
          </a:prstGeom>
          <a:solidFill>
            <a:srgbClr val="C9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4672" y="5308092"/>
            <a:ext cx="384048" cy="384048"/>
          </a:xfrm>
          <a:prstGeom prst="rect">
            <a:avLst/>
          </a:prstGeom>
          <a:solidFill>
            <a:srgbClr val="C9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335524"/>
            <a:ext cx="38404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53312" y="5175504"/>
            <a:ext cx="33558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2A2A2A"/>
                </a:solidFill>
                <a:latin typeface="맑은 고딕"/>
              </a:rPr>
              <a:t>gallery_urls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53312" y="5431536"/>
            <a:ext cx="33558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1">
                <a:solidFill>
                  <a:srgbClr val="C9A063"/>
                </a:solidFill>
                <a:latin typeface="맑은 고딕"/>
              </a:rPr>
              <a:t>권장 1200×800 × 5장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53312" y="5632704"/>
            <a:ext cx="33558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8A8A8A"/>
                </a:solidFill>
                <a:latin typeface="맑은 고딕"/>
              </a:rPr>
              <a:t>병원 상세 페이지 갤러리 섹션 (데이터 채워야 표시)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74920" y="2697480"/>
            <a:ext cx="6675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2A2A2A"/>
                </a:solidFill>
                <a:latin typeface="맑은 고딕"/>
              </a:rPr>
              <a:t>🌐  실제 사이트 화면 — 박스가 표시된 곳에 사진이 들어가요</a:t>
            </a:r>
          </a:p>
        </p:txBody>
      </p:sp>
      <p:pic>
        <p:nvPicPr>
          <p:cNvPr id="32" name="Picture 31" descr="04_hospi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4798" y="3108960"/>
            <a:ext cx="6455362" cy="2990088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5074920" y="6135624"/>
            <a:ext cx="6675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950" b="0" i="1">
                <a:solidFill>
                  <a:srgbClr val="8A8A8A"/>
                </a:solidFill>
                <a:latin typeface="맑은 고딕"/>
              </a:rPr>
              <a:t>병원 상세 페이지 → 상단 hero (A: hero_image_url)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9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8A8A8A"/>
                </a:solidFill>
                <a:latin typeface="맑은 고딕"/>
              </a:rPr>
              <a:t>✦  Glow Up Seoul · 운영 가이드북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0" i="0">
                <a:solidFill>
                  <a:srgbClr val="8A8A8A"/>
                </a:solidFill>
                <a:latin typeface="Calibri"/>
              </a:rPr>
              <a:t>15 / 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C9A063"/>
                </a:solidFill>
                <a:latin typeface="맑은 고딕"/>
              </a:rPr>
              <a:t>STEP 5-2 · 의사 추가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548640"/>
            <a:ext cx="3840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0" i="0">
                <a:solidFill>
                  <a:srgbClr val="8A8A8A"/>
                </a:solidFill>
                <a:latin typeface="맑은 고딕"/>
              </a:rPr>
              <a:t>예상 시간 · 의사당 약 5분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2A2A2A"/>
                </a:solidFill>
                <a:latin typeface="맑은 고딕"/>
              </a:rPr>
              <a:t>병원 소속 의사 추가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874519"/>
            <a:ext cx="10881360" cy="685800"/>
          </a:xfrm>
          <a:prstGeom prst="rect">
            <a:avLst/>
          </a:prstGeom>
          <a:solidFill>
            <a:srgbClr val="F2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96596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C9A063"/>
                </a:solidFill>
                <a:latin typeface="맑은 고딕"/>
              </a:rPr>
              <a:t>📍  어디로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48840" y="1947672"/>
            <a:ext cx="92354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2A2A2A"/>
                </a:solidFill>
                <a:latin typeface="맑은 고딕"/>
              </a:rPr>
              <a:t>병원 편집 화면 → '의사' 패널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267712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C9A063"/>
                </a:solidFill>
                <a:latin typeface="맑은 고딕"/>
              </a:rPr>
              <a:t>👆  순서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48840" y="2267712"/>
            <a:ext cx="92354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1">
                <a:solidFill>
                  <a:srgbClr val="5A5A5A"/>
                </a:solidFill>
                <a:latin typeface="맑은 고딕"/>
              </a:rPr>
              <a:t>병원 저장 후 → '의사' 패널 → [+ 의사 추가]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788920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2A2A2A"/>
                </a:solidFill>
                <a:latin typeface="맑은 고딕"/>
              </a:rPr>
              <a:t>✏️  채워야 할 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20040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C4554D"/>
                </a:solidFill>
                <a:latin typeface="맑은 고딕"/>
              </a:rPr>
              <a:t>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200400"/>
            <a:ext cx="6126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2A2A2A"/>
                </a:solidFill>
                <a:latin typeface="맑은 고딕"/>
              </a:rPr>
              <a:t>이름 한국어/영어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447288"/>
            <a:ext cx="6126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8A8A8A"/>
                </a:solidFill>
                <a:latin typeface="맑은 고딕"/>
              </a:rPr>
              <a:t>예: 김민준 / Dr. Min Jun Kim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70332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C4554D"/>
                </a:solidFill>
                <a:latin typeface="맑은 고딕"/>
              </a:rPr>
              <a:t>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703320"/>
            <a:ext cx="6126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2A2A2A"/>
                </a:solidFill>
                <a:latin typeface="맑은 고딕"/>
              </a:rPr>
              <a:t>직책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950208"/>
            <a:ext cx="6126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8A8A8A"/>
                </a:solidFill>
                <a:latin typeface="맑은 고딕"/>
              </a:rPr>
              <a:t>예: 대표원장 / 부원장 / 전문의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20624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C4554D"/>
                </a:solidFill>
                <a:latin typeface="맑은 고딕"/>
              </a:rPr>
              <a:t>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206240"/>
            <a:ext cx="6126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2A2A2A"/>
                </a:solidFill>
                <a:latin typeface="맑은 고딕"/>
              </a:rPr>
              <a:t>경력 한 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453128"/>
            <a:ext cx="6126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8A8A8A"/>
                </a:solidFill>
                <a:latin typeface="맑은 고딕"/>
              </a:rPr>
              <a:t>예: 강남대 출신, 15년 경력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70916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C4554D"/>
                </a:solidFill>
                <a:latin typeface="맑은 고딕"/>
              </a:rPr>
              <a:t>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709160"/>
            <a:ext cx="6126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2A2A2A"/>
                </a:solidFill>
                <a:latin typeface="맑은 고딕"/>
              </a:rPr>
              <a:t>portrait 사진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956048"/>
            <a:ext cx="6126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8A8A8A"/>
                </a:solidFill>
                <a:latin typeface="맑은 고딕"/>
              </a:rPr>
              <a:t>정사각형 · 깔끔한 정면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21208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C9A063"/>
                </a:solidFill>
                <a:latin typeface="맑은 고딕"/>
              </a:rPr>
              <a:t>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212080"/>
            <a:ext cx="6126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2A2A2A"/>
                </a:solidFill>
                <a:latin typeface="맑은 고딕"/>
              </a:rPr>
              <a:t>대표 의사 토글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458968"/>
            <a:ext cx="6126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8A8A8A"/>
                </a:solidFill>
                <a:latin typeface="맑은 고딕"/>
              </a:rPr>
              <a:t>병원의 얼굴이면 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69480" y="2788920"/>
            <a:ext cx="4297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2A2A2A"/>
                </a:solidFill>
                <a:latin typeface="맑은 고딕"/>
              </a:rPr>
              <a:t>💡  왜 채우나요?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69480" y="3154680"/>
            <a:ext cx="42976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5A5A5A"/>
                </a:solidFill>
                <a:latin typeface="맑은 고딕"/>
              </a:rPr>
              <a:t>외국인 환자에게 의사 정보는 가장 큰 신뢰 시그널입니다. 사진과 경력만 있어도 결정률이 크게 올라가요.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69480" y="5074920"/>
            <a:ext cx="429768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1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269480" y="5074920"/>
            <a:ext cx="45720" cy="960120"/>
          </a:xfrm>
          <a:prstGeom prst="rect">
            <a:avLst/>
          </a:prstGeom>
          <a:solidFill>
            <a:srgbClr val="C9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52360" y="5184648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2A2A2A"/>
                </a:solidFill>
                <a:latin typeface="맑은 고딕"/>
              </a:rPr>
              <a:t>예시 · 처음엔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52360" y="5486400"/>
            <a:ext cx="4023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5A5A5A"/>
                </a:solidFill>
                <a:latin typeface="맑은 고딕"/>
              </a:rPr>
              <a:t>병원당 대표 의사 1명만 먼저 등록. 부원장들은 나중에.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" y="5806440"/>
            <a:ext cx="10881360" cy="914400"/>
          </a:xfrm>
          <a:prstGeom prst="rect">
            <a:avLst/>
          </a:prstGeom>
          <a:solidFill>
            <a:srgbClr val="E8D4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40080" y="5806440"/>
            <a:ext cx="54864" cy="914400"/>
          </a:xfrm>
          <a:prstGeom prst="rect">
            <a:avLst/>
          </a:prstGeom>
          <a:solidFill>
            <a:srgbClr val="C9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594360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0">
                <a:solidFill>
                  <a:srgbClr val="C9A063"/>
                </a:solidFill>
                <a:latin typeface="맑은 고딕"/>
              </a:rPr>
              <a:t>✦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417320" y="5943600"/>
            <a:ext cx="9875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2A2A2A"/>
                </a:solidFill>
                <a:latin typeface="맑은 고딕"/>
              </a:rPr>
              <a:t>사진이 가장 중요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6263640"/>
            <a:ext cx="9875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5A5A5A"/>
                </a:solidFill>
                <a:latin typeface="맑은 고딕"/>
              </a:rPr>
              <a:t>이름·경력만 있고 사진이 없으면 신뢰도가 떨어져요. 병원에서 사진 받아오는 게 우선.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9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8A8A8A"/>
                </a:solidFill>
                <a:latin typeface="맑은 고딕"/>
              </a:rPr>
              <a:t>✦  Glow Up Seoul · 운영 가이드북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0" i="0">
                <a:solidFill>
                  <a:srgbClr val="8A8A8A"/>
                </a:solidFill>
                <a:latin typeface="Calibri"/>
              </a:rPr>
              <a:t>16 / 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C9A063"/>
                </a:solidFill>
                <a:latin typeface="맑은 고딕"/>
              </a:rPr>
              <a:t>STEP 5-2 · 의사 사진 — 사이트 어디에 보이나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2A2A2A"/>
                </a:solidFill>
                <a:latin typeface="맑은 고딕"/>
              </a:rPr>
              <a:t>의사 사진이 보이는 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202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1">
                <a:solidFill>
                  <a:srgbClr val="5A5A5A"/>
                </a:solidFill>
                <a:latin typeface="맑은 고딕"/>
              </a:rPr>
              <a:t>병원 편집 화면에서 추가한 의사 사진은 병원 상세 페이지의 의사 카드 그리드에 나옵니다.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97480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2A2A2A"/>
                </a:solidFill>
                <a:latin typeface="맑은 고딕"/>
              </a:rPr>
              <a:t>📷  사진 슬롯 (admin 입력)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108960"/>
            <a:ext cx="42062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1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108960"/>
            <a:ext cx="45720" cy="868680"/>
          </a:xfrm>
          <a:prstGeom prst="rect">
            <a:avLst/>
          </a:prstGeom>
          <a:solidFill>
            <a:srgbClr val="C9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" y="3351276"/>
            <a:ext cx="384048" cy="384048"/>
          </a:xfrm>
          <a:prstGeom prst="rect">
            <a:avLst/>
          </a:prstGeom>
          <a:solidFill>
            <a:srgbClr val="C9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3378708"/>
            <a:ext cx="38404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53312" y="3218688"/>
            <a:ext cx="33558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2A2A2A"/>
                </a:solidFill>
                <a:latin typeface="맑은 고딕"/>
              </a:rPr>
              <a:t>portrait_url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3474720"/>
            <a:ext cx="33558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1">
                <a:solidFill>
                  <a:srgbClr val="C9A063"/>
                </a:solidFill>
                <a:latin typeface="맑은 고딕"/>
              </a:rPr>
              <a:t>권장 600×600 (정사각형)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53312" y="3675888"/>
            <a:ext cx="33558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8A8A8A"/>
                </a:solidFill>
                <a:latin typeface="맑은 고딕"/>
              </a:rPr>
              <a:t>병원 상세 페이지의 의사 카드 (프로필 사진)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087368"/>
            <a:ext cx="42062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1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4087368"/>
            <a:ext cx="45720" cy="868680"/>
          </a:xfrm>
          <a:prstGeom prst="rect">
            <a:avLst/>
          </a:prstGeom>
          <a:solidFill>
            <a:srgbClr val="C9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2" y="4329684"/>
            <a:ext cx="384048" cy="384048"/>
          </a:xfrm>
          <a:prstGeom prst="rect">
            <a:avLst/>
          </a:prstGeom>
          <a:solidFill>
            <a:srgbClr val="C9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4357116"/>
            <a:ext cx="38404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53312" y="4197096"/>
            <a:ext cx="33558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2A2A2A"/>
                </a:solidFill>
                <a:latin typeface="맑은 고딕"/>
              </a:rPr>
              <a:t>hero_url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53312" y="4453128"/>
            <a:ext cx="33558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1">
                <a:solidFill>
                  <a:srgbClr val="C9A063"/>
                </a:solidFill>
                <a:latin typeface="맑은 고딕"/>
              </a:rPr>
              <a:t>권장 1600×900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53312" y="4654296"/>
            <a:ext cx="33558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8A8A8A"/>
                </a:solidFill>
                <a:latin typeface="맑은 고딕"/>
              </a:rPr>
              <a:t>의사 상세 페이지의 hero (향후 페이지)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065776"/>
            <a:ext cx="42062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1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" y="5065776"/>
            <a:ext cx="45720" cy="868680"/>
          </a:xfrm>
          <a:prstGeom prst="rect">
            <a:avLst/>
          </a:prstGeom>
          <a:solidFill>
            <a:srgbClr val="C9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4672" y="5308092"/>
            <a:ext cx="384048" cy="384048"/>
          </a:xfrm>
          <a:prstGeom prst="rect">
            <a:avLst/>
          </a:prstGeom>
          <a:solidFill>
            <a:srgbClr val="C9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335524"/>
            <a:ext cx="38404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53312" y="5175504"/>
            <a:ext cx="33558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2A2A2A"/>
                </a:solidFill>
                <a:latin typeface="맑은 고딕"/>
              </a:rPr>
              <a:t>gallery_urls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53312" y="5431536"/>
            <a:ext cx="33558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1">
                <a:solidFill>
                  <a:srgbClr val="C9A063"/>
                </a:solidFill>
                <a:latin typeface="맑은 고딕"/>
              </a:rPr>
              <a:t>권장 1200×800 × 여러 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53312" y="5632704"/>
            <a:ext cx="33558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8A8A8A"/>
                </a:solidFill>
                <a:latin typeface="맑은 고딕"/>
              </a:rPr>
              <a:t>의사 상세 페이지의 갤러리 (향후)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74920" y="2697480"/>
            <a:ext cx="6675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2A2A2A"/>
                </a:solidFill>
                <a:latin typeface="맑은 고딕"/>
              </a:rPr>
              <a:t>🌐  실제 사이트 화면 — 박스가 표시된 곳에 사진이 들어가요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74920" y="3108960"/>
            <a:ext cx="6675120" cy="2194560"/>
          </a:xfrm>
          <a:prstGeom prst="rect">
            <a:avLst/>
          </a:prstGeom>
          <a:solidFill>
            <a:srgbClr val="F2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49240" y="3383280"/>
            <a:ext cx="61264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200" b="0" i="0">
                <a:solidFill>
                  <a:srgbClr val="5A5A5A"/>
                </a:solidFill>
                <a:latin typeface="맑은 고딕"/>
              </a:rPr>
              <a:t>지금 사이트는 의사 데이터가 비어 있어서 화면 캡쳐가 없어요. 병원 편집 페이지의 '의사' 패널에서 의사를 추가하시면 — 그 병원 상세 페이지에 자동으로 의사 카드가 나타납니다. 포트레잇 사진 한 장만 있어도 외국인 환자에게 가장 큰 신뢰 시그널이 돼요.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9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8A8A8A"/>
                </a:solidFill>
                <a:latin typeface="맑은 고딕"/>
              </a:rPr>
              <a:t>✦  Glow Up Seoul · 운영 가이드북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0" i="0">
                <a:solidFill>
                  <a:srgbClr val="8A8A8A"/>
                </a:solidFill>
                <a:latin typeface="Calibri"/>
              </a:rPr>
              <a:t>17 / 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C9A063"/>
                </a:solidFill>
                <a:latin typeface="맑은 고딕"/>
              </a:rPr>
              <a:t>STEP 5-3 · 시술 가격표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548640"/>
            <a:ext cx="3840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0" i="0">
                <a:solidFill>
                  <a:srgbClr val="8A8A8A"/>
                </a:solidFill>
                <a:latin typeface="맑은 고딕"/>
              </a:rPr>
              <a:t>예상 시간 · 병원당 10~30분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2A2A2A"/>
                </a:solidFill>
                <a:latin typeface="맑은 고딕"/>
              </a:rPr>
              <a:t>이 병원의 시술과 가격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874519"/>
            <a:ext cx="10881360" cy="685800"/>
          </a:xfrm>
          <a:prstGeom prst="rect">
            <a:avLst/>
          </a:prstGeom>
          <a:solidFill>
            <a:srgbClr val="F2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96596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C9A063"/>
                </a:solidFill>
                <a:latin typeface="맑은 고딕"/>
              </a:rPr>
              <a:t>📍  어디로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48840" y="1947672"/>
            <a:ext cx="92354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2A2A2A"/>
                </a:solidFill>
                <a:latin typeface="맑은 고딕"/>
              </a:rPr>
              <a:t>병원 편집 화면 → '시술 가격표' 패널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267712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C9A063"/>
                </a:solidFill>
                <a:latin typeface="맑은 고딕"/>
              </a:rPr>
              <a:t>👆  순서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48840" y="2267712"/>
            <a:ext cx="92354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1">
                <a:solidFill>
                  <a:srgbClr val="5A5A5A"/>
                </a:solidFill>
                <a:latin typeface="맑은 고딕"/>
              </a:rPr>
              <a:t>시술 패널 → [+ 시술 추가] → 시술 선택 → 가격 입력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788920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2A2A2A"/>
                </a:solidFill>
                <a:latin typeface="맑은 고딕"/>
              </a:rPr>
              <a:t>✏️  채워야 할 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20040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C4554D"/>
                </a:solidFill>
                <a:latin typeface="맑은 고딕"/>
              </a:rPr>
              <a:t>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200400"/>
            <a:ext cx="6126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2A2A2A"/>
                </a:solidFill>
                <a:latin typeface="맑은 고딕"/>
              </a:rPr>
              <a:t>시술 선택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447288"/>
            <a:ext cx="6126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8A8A8A"/>
                </a:solidFill>
                <a:latin typeface="맑은 고딕"/>
              </a:rPr>
              <a:t>Step 3에서 만든 시술 중에서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70332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C4554D"/>
                </a:solidFill>
                <a:latin typeface="맑은 고딕"/>
              </a:rPr>
              <a:t>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703320"/>
            <a:ext cx="6126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2A2A2A"/>
                </a:solidFill>
                <a:latin typeface="맑은 고딕"/>
              </a:rPr>
              <a:t>시작 가격 (KRW)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950208"/>
            <a:ext cx="6126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8A8A8A"/>
                </a:solidFill>
                <a:latin typeface="맑은 고딕"/>
              </a:rPr>
              <a:t>예: 390000 (콤마 없이 숫자)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20624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C9A063"/>
                </a:solidFill>
                <a:latin typeface="맑은 고딕"/>
              </a:rPr>
              <a:t>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206240"/>
            <a:ext cx="6126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2A2A2A"/>
                </a:solidFill>
                <a:latin typeface="맑은 고딕"/>
              </a:rPr>
              <a:t>원가 (선택)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453128"/>
            <a:ext cx="6126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8A8A8A"/>
                </a:solidFill>
                <a:latin typeface="맑은 고딕"/>
              </a:rPr>
              <a:t>할인 표시용 · 자동 % 계산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70916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C9A063"/>
                </a:solidFill>
                <a:latin typeface="맑은 고딕"/>
              </a:rPr>
              <a:t>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709160"/>
            <a:ext cx="6126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2A2A2A"/>
                </a:solidFill>
                <a:latin typeface="맑은 고딕"/>
              </a:rPr>
              <a:t>장비 / 기기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956048"/>
            <a:ext cx="6126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8A8A8A"/>
                </a:solidFill>
                <a:latin typeface="맑은 고딕"/>
              </a:rPr>
              <a:t>예: Shurink, Thermage FLX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21208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C9A063"/>
                </a:solidFill>
                <a:latin typeface="맑은 고딕"/>
              </a:rPr>
              <a:t>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212080"/>
            <a:ext cx="6126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2A2A2A"/>
                </a:solidFill>
                <a:latin typeface="맑은 고딕"/>
              </a:rPr>
              <a:t>시그너처 토글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458968"/>
            <a:ext cx="6126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8A8A8A"/>
                </a:solidFill>
                <a:latin typeface="맑은 고딕"/>
              </a:rPr>
              <a:t>대표 시술이면 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71500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C4554D"/>
                </a:solidFill>
                <a:latin typeface="맑은 고딕"/>
              </a:rPr>
              <a:t>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715000"/>
            <a:ext cx="6126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2A2A2A"/>
                </a:solidFill>
                <a:latin typeface="맑은 고딕"/>
              </a:rPr>
              <a:t>공개 여부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5961888"/>
            <a:ext cx="6126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8A8A8A"/>
                </a:solidFill>
                <a:latin typeface="맑은 고딕"/>
              </a:rPr>
              <a:t>기본 ON · 가끔 숨길 때만 OFF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69480" y="2788920"/>
            <a:ext cx="4297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2A2A2A"/>
                </a:solidFill>
                <a:latin typeface="맑은 고딕"/>
              </a:rPr>
              <a:t>💡  왜 채우나요?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69480" y="3154680"/>
            <a:ext cx="42976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5A5A5A"/>
                </a:solidFill>
                <a:latin typeface="맑은 고딕"/>
              </a:rPr>
              <a:t>병원 상세 페이지의 '메뉴판'. 환자가 어떤 시술을 얼마에 받을 수 있는지 결정해주는 핵심 데이터입니다.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269480" y="5074920"/>
            <a:ext cx="429768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1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269480" y="5074920"/>
            <a:ext cx="45720" cy="960120"/>
          </a:xfrm>
          <a:prstGeom prst="rect">
            <a:avLst/>
          </a:prstGeom>
          <a:solidFill>
            <a:srgbClr val="C9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52360" y="5184648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2A2A2A"/>
                </a:solidFill>
                <a:latin typeface="맑은 고딕"/>
              </a:rPr>
              <a:t>예시 · 한 병원당 보통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52360" y="5486400"/>
            <a:ext cx="4023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5A5A5A"/>
                </a:solidFill>
                <a:latin typeface="맑은 고딕"/>
              </a:rPr>
              <a:t>10~30개 시술. 시그너처 1~3개는 꼭 토글 ON.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" y="5806440"/>
            <a:ext cx="10881360" cy="914400"/>
          </a:xfrm>
          <a:prstGeom prst="rect">
            <a:avLst/>
          </a:prstGeom>
          <a:solidFill>
            <a:srgbClr val="E8D4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40080" y="5806440"/>
            <a:ext cx="54864" cy="914400"/>
          </a:xfrm>
          <a:prstGeom prst="rect">
            <a:avLst/>
          </a:prstGeom>
          <a:solidFill>
            <a:srgbClr val="C9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594360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0">
                <a:solidFill>
                  <a:srgbClr val="C9A063"/>
                </a:solidFill>
                <a:latin typeface="맑은 고딕"/>
              </a:rPr>
              <a:t>✦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17320" y="5943600"/>
            <a:ext cx="9875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2A2A2A"/>
                </a:solidFill>
                <a:latin typeface="맑은 고딕"/>
              </a:rPr>
              <a:t>가격 받기 어려우면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417320" y="6263640"/>
            <a:ext cx="9875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5A5A5A"/>
                </a:solidFill>
                <a:latin typeface="맑은 고딕"/>
              </a:rPr>
              <a:t>[공개 안 함] 토글로 사이트에 '상담문의'로 표시됩니다.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9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8A8A8A"/>
                </a:solidFill>
                <a:latin typeface="맑은 고딕"/>
              </a:rPr>
              <a:t>✦  Glow Up Seoul · 운영 가이드북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0" i="0">
                <a:solidFill>
                  <a:srgbClr val="8A8A8A"/>
                </a:solidFill>
                <a:latin typeface="Calibri"/>
              </a:rPr>
              <a:t>18 / 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C4554D"/>
                </a:solidFill>
                <a:latin typeface="맑은 고딕"/>
              </a:rPr>
              <a:t>STEP 5-4 · 전후사진 — 가장 조심스럽게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548640"/>
            <a:ext cx="3840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0" i="0">
                <a:solidFill>
                  <a:srgbClr val="8A8A8A"/>
                </a:solidFill>
                <a:latin typeface="맑은 고딕"/>
              </a:rPr>
              <a:t>사진당 약 5분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2A2A2A"/>
                </a:solidFill>
                <a:latin typeface="맑은 고딕"/>
              </a:rPr>
              <a:t>전후사진(B&amp;A) 등록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828800"/>
            <a:ext cx="10881360" cy="914400"/>
          </a:xfrm>
          <a:prstGeom prst="rect">
            <a:avLst/>
          </a:prstGeom>
          <a:solidFill>
            <a:srgbClr val="FA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828800"/>
            <a:ext cx="54864" cy="914400"/>
          </a:xfrm>
          <a:prstGeom prst="rect">
            <a:avLst/>
          </a:prstGeom>
          <a:solidFill>
            <a:srgbClr val="C455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96596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0">
                <a:solidFill>
                  <a:srgbClr val="C4554D"/>
                </a:solidFill>
                <a:latin typeface="맑은 고딕"/>
              </a:rPr>
              <a:t>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1965960"/>
            <a:ext cx="9875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2A2A2A"/>
                </a:solidFill>
                <a:latin typeface="맑은 고딕"/>
              </a:rPr>
              <a:t>이 단계는 법적으로 가장 민감합니다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286000"/>
            <a:ext cx="9875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5A5A5A"/>
                </a:solidFill>
                <a:latin typeface="맑은 고딕"/>
              </a:rPr>
              <a:t>한국 PIPA 는 환자 사진을 민감정보로 분류. 환자 서면 동의 없는 사진은 절대 등록 X. 운영자 본인의 책임 영역입니다.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926080"/>
            <a:ext cx="10881360" cy="685800"/>
          </a:xfrm>
          <a:prstGeom prst="rect">
            <a:avLst/>
          </a:prstGeom>
          <a:solidFill>
            <a:srgbClr val="F2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017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C9A063"/>
                </a:solidFill>
                <a:latin typeface="맑은 고딕"/>
              </a:rPr>
              <a:t>📍  어디로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48840" y="2999232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2A2A2A"/>
                </a:solidFill>
                <a:latin typeface="맑은 고딕"/>
              </a:rPr>
              <a:t>병원 편집 화면 → 'B&amp;A (전후사진)' 패널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319272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C9A063"/>
                </a:solidFill>
                <a:latin typeface="맑은 고딕"/>
              </a:rPr>
              <a:t>👆  순서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48840" y="3319272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1">
                <a:solidFill>
                  <a:srgbClr val="5A5A5A"/>
                </a:solidFill>
                <a:latin typeface="맑은 고딕"/>
              </a:rPr>
              <a:t>[+ B&amp;A 추가] → 사진 2장 → 환자 메타 → 동의 체크 → 저장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840480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2A2A2A"/>
                </a:solidFill>
                <a:latin typeface="맑은 고딕"/>
              </a:rPr>
              <a:t>✏️  채워야 할 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20624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C4554D"/>
                </a:solidFill>
                <a:latin typeface="맑은 고딕"/>
              </a:rPr>
              <a:t>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206240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2A2A2A"/>
                </a:solidFill>
                <a:latin typeface="맑은 고딕"/>
              </a:rPr>
              <a:t>Before 사진 (시술 전)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53542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C4554D"/>
                </a:solidFill>
                <a:latin typeface="맑은 고딕"/>
              </a:rPr>
              <a:t>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535424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2A2A2A"/>
                </a:solidFill>
                <a:latin typeface="맑은 고딕"/>
              </a:rPr>
              <a:t>After 사진 (시술 후)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86460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C4554D"/>
                </a:solidFill>
                <a:latin typeface="맑은 고딕"/>
              </a:rPr>
              <a:t>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864608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2A2A2A"/>
                </a:solidFill>
                <a:latin typeface="맑은 고딕"/>
              </a:rPr>
              <a:t>이 사진의 시술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19379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C9A063"/>
                </a:solidFill>
                <a:latin typeface="맑은 고딕"/>
              </a:rPr>
              <a:t>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193792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2A2A2A"/>
                </a:solidFill>
                <a:latin typeface="맑은 고딕"/>
              </a:rPr>
              <a:t>환자 나이대 · 환자 국가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52297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C4554D"/>
                </a:solidFill>
                <a:latin typeface="맑은 고딕"/>
              </a:rPr>
              <a:t>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522976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2A2A2A"/>
                </a:solidFill>
                <a:latin typeface="맑은 고딕"/>
              </a:rPr>
              <a:t>⚠ 환자 서면 동의 체크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85216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C4554D"/>
                </a:solidFill>
                <a:latin typeface="맑은 고딕"/>
              </a:rPr>
              <a:t>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852160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2A2A2A"/>
                </a:solidFill>
                <a:latin typeface="맑은 고딕"/>
              </a:rPr>
              <a:t>공개 범위 (전체 / 로그인 / 비공개)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69480" y="3840480"/>
            <a:ext cx="4297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2A2A2A"/>
                </a:solidFill>
                <a:latin typeface="맑은 고딕"/>
              </a:rPr>
              <a:t>💡  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69480" y="420624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C9A063"/>
                </a:solidFill>
                <a:latin typeface="맑은 고딕"/>
              </a:rPr>
              <a:t>·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79" y="420624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5A5A5A"/>
                </a:solidFill>
                <a:latin typeface="맑은 고딕"/>
              </a:rPr>
              <a:t>처음엔 병원당 시그너처 시술 B&amp;A 5장만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69480" y="457200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C9A063"/>
                </a:solidFill>
                <a:latin typeface="맑은 고딕"/>
              </a:rPr>
              <a:t>·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98079" y="457200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5A5A5A"/>
                </a:solidFill>
                <a:latin typeface="맑은 고딕"/>
              </a:rPr>
              <a:t>동의서 없으면 일단 '비공개'로 등록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69480" y="493776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C9A063"/>
                </a:solidFill>
                <a:latin typeface="맑은 고딕"/>
              </a:rPr>
              <a:t>·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79" y="493776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5A5A5A"/>
                </a:solidFill>
                <a:latin typeface="맑은 고딕"/>
              </a:rPr>
              <a:t>환자 얼굴 식별 가능 사진은 더 조심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69480" y="53035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C9A063"/>
                </a:solidFill>
                <a:latin typeface="맑은 고딕"/>
              </a:rPr>
              <a:t>·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98079" y="530352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5A5A5A"/>
                </a:solidFill>
                <a:latin typeface="맑은 고딕"/>
              </a:rPr>
              <a:t>의심스러우면 등록하지 마세요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9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8A8A8A"/>
                </a:solidFill>
                <a:latin typeface="맑은 고딕"/>
              </a:rPr>
              <a:t>✦  Glow Up Seoul · 운영 가이드북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0" i="0">
                <a:solidFill>
                  <a:srgbClr val="8A8A8A"/>
                </a:solidFill>
                <a:latin typeface="Calibri"/>
              </a:rPr>
              <a:t>19 / 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C9A063"/>
                </a:solidFill>
                <a:latin typeface="맑은 고딕"/>
              </a:rPr>
              <a:t>STEP 5-4 · 전후사진 — 사이트 어디에 보이나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2A2A2A"/>
                </a:solidFill>
                <a:latin typeface="맑은 고딕"/>
              </a:rPr>
              <a:t>B&amp;A 사진이 보이는 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202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1">
                <a:solidFill>
                  <a:srgbClr val="5A5A5A"/>
                </a:solidFill>
                <a:latin typeface="맑은 고딕"/>
              </a:rPr>
              <a:t>병원 편집 화면에서 추가한 before/after 짝은 그 병원 상세 페이지의 B&amp;A 섹션에 카드 형태로 나옵니다.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97480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2A2A2A"/>
                </a:solidFill>
                <a:latin typeface="맑은 고딕"/>
              </a:rPr>
              <a:t>📷  사진 슬롯 (admin 입력)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108960"/>
            <a:ext cx="42062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1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108960"/>
            <a:ext cx="45720" cy="868680"/>
          </a:xfrm>
          <a:prstGeom prst="rect">
            <a:avLst/>
          </a:prstGeom>
          <a:solidFill>
            <a:srgbClr val="C9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" y="3351276"/>
            <a:ext cx="384048" cy="384048"/>
          </a:xfrm>
          <a:prstGeom prst="rect">
            <a:avLst/>
          </a:prstGeom>
          <a:solidFill>
            <a:srgbClr val="C9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3378708"/>
            <a:ext cx="38404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53312" y="3218688"/>
            <a:ext cx="33558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2A2A2A"/>
                </a:solidFill>
                <a:latin typeface="맑은 고딕"/>
              </a:rPr>
              <a:t>before_url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3474720"/>
            <a:ext cx="33558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1">
                <a:solidFill>
                  <a:srgbClr val="C9A063"/>
                </a:solidFill>
                <a:latin typeface="맑은 고딕"/>
              </a:rPr>
              <a:t>권장 1000×1000 (정사각형 권장)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53312" y="3675888"/>
            <a:ext cx="33558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8A8A8A"/>
                </a:solidFill>
                <a:latin typeface="맑은 고딕"/>
              </a:rPr>
              <a:t>병원 상세 페이지 B&amp;A 섹션 — 좌측 (시술 전)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087368"/>
            <a:ext cx="42062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1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4087368"/>
            <a:ext cx="45720" cy="868680"/>
          </a:xfrm>
          <a:prstGeom prst="rect">
            <a:avLst/>
          </a:prstGeom>
          <a:solidFill>
            <a:srgbClr val="C9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2" y="4329684"/>
            <a:ext cx="384048" cy="384048"/>
          </a:xfrm>
          <a:prstGeom prst="rect">
            <a:avLst/>
          </a:prstGeom>
          <a:solidFill>
            <a:srgbClr val="C9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4357116"/>
            <a:ext cx="38404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53312" y="4197096"/>
            <a:ext cx="33558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2A2A2A"/>
                </a:solidFill>
                <a:latin typeface="맑은 고딕"/>
              </a:rPr>
              <a:t>after_url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53312" y="4453128"/>
            <a:ext cx="33558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1">
                <a:solidFill>
                  <a:srgbClr val="C9A063"/>
                </a:solidFill>
                <a:latin typeface="맑은 고딕"/>
              </a:rPr>
              <a:t>권장 1000×1000 (정사각형 권장)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53312" y="4654296"/>
            <a:ext cx="33558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8A8A8A"/>
                </a:solidFill>
                <a:latin typeface="맑은 고딕"/>
              </a:rPr>
              <a:t>병원 상세 페이지 B&amp;A 섹션 — 우측 (시술 후)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74920" y="2697480"/>
            <a:ext cx="6675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2A2A2A"/>
                </a:solidFill>
                <a:latin typeface="맑은 고딕"/>
              </a:rPr>
              <a:t>🌐  실제 사이트 화면 — 박스가 표시된 곳에 사진이 들어가요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74920" y="3108960"/>
            <a:ext cx="6675120" cy="2194560"/>
          </a:xfrm>
          <a:prstGeom prst="rect">
            <a:avLst/>
          </a:prstGeom>
          <a:solidFill>
            <a:srgbClr val="F2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49240" y="3383280"/>
            <a:ext cx="61264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200" b="0" i="0">
                <a:solidFill>
                  <a:srgbClr val="5A5A5A"/>
                </a:solidFill>
                <a:latin typeface="맑은 고딕"/>
              </a:rPr>
              <a:t>지금 사이트는 B&amp;A 데이터가 비어 있어서 화면 캡쳐가 없어요. 병원 편집 페이지의 'B&amp;A' 패널에서 추가한 전후사진은 → 자동으로 그 병원 상세 페이지의 B&amp;A 섹션에 노출됩니다. ⚠ 등록 전 반드시 환자 서면 동의를 확인하세요 (한국 개인정보보호법). 동의가 의심스러우면 '비공개' 로 등록 후 동의 받고 공개 전환.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9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8A8A8A"/>
                </a:solidFill>
                <a:latin typeface="맑은 고딕"/>
              </a:rPr>
              <a:t>✦  Glow Up Seoul · 운영 가이드북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0" i="0">
                <a:solidFill>
                  <a:srgbClr val="8A8A8A"/>
                </a:solidFill>
                <a:latin typeface="Calibri"/>
              </a:rPr>
              <a:t>20 / 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C9A063"/>
                </a:solidFill>
                <a:latin typeface="맑은 고딕"/>
              </a:rPr>
              <a:t>STEP 6 · 실시간 피드 시드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548640"/>
            <a:ext cx="3840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0" i="0">
                <a:solidFill>
                  <a:srgbClr val="8A8A8A"/>
                </a:solidFill>
                <a:latin typeface="맑은 고딕"/>
              </a:rPr>
              <a:t>예상 시간 · 약 10분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2A2A2A"/>
                </a:solidFill>
                <a:latin typeface="맑은 고딕"/>
              </a:rPr>
              <a:t>메인 화면 후기 부트스트랩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874519"/>
            <a:ext cx="10881360" cy="685800"/>
          </a:xfrm>
          <a:prstGeom prst="rect">
            <a:avLst/>
          </a:prstGeom>
          <a:solidFill>
            <a:srgbClr val="F2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96596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C9A063"/>
                </a:solidFill>
                <a:latin typeface="맑은 고딕"/>
              </a:rPr>
              <a:t>📍  어디로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48840" y="1947672"/>
            <a:ext cx="92354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2A2A2A"/>
                </a:solidFill>
                <a:latin typeface="맑은 고딕"/>
              </a:rPr>
              <a:t>좌측 메뉴 → [실시간 피드]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267712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C9A063"/>
                </a:solidFill>
                <a:latin typeface="맑은 고딕"/>
              </a:rPr>
              <a:t>👆  순서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48840" y="2267712"/>
            <a:ext cx="92354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1">
                <a:solidFill>
                  <a:srgbClr val="5A5A5A"/>
                </a:solidFill>
                <a:latin typeface="맑은 고딕"/>
              </a:rPr>
              <a:t>실시간 피드 → [+ 새로 만들기] → 5~10개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788920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2A2A2A"/>
                </a:solidFill>
                <a:latin typeface="맑은 고딕"/>
              </a:rPr>
              <a:t>✏️  채워야 할 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20040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C4554D"/>
                </a:solidFill>
                <a:latin typeface="맑은 고딕"/>
              </a:rPr>
              <a:t>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200400"/>
            <a:ext cx="6126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2A2A2A"/>
                </a:solidFill>
                <a:latin typeface="맑은 고딕"/>
              </a:rPr>
              <a:t>이니셜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447288"/>
            <a:ext cx="6126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8A8A8A"/>
                </a:solidFill>
                <a:latin typeface="맑은 고딕"/>
              </a:rPr>
              <a:t>이름 첫 글자만 · 예: M.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70332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C4554D"/>
                </a:solidFill>
                <a:latin typeface="맑은 고딕"/>
              </a:rPr>
              <a:t>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703320"/>
            <a:ext cx="6126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2A2A2A"/>
                </a:solidFill>
                <a:latin typeface="맑은 고딕"/>
              </a:rPr>
              <a:t>국가 코드/명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950208"/>
            <a:ext cx="6126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8A8A8A"/>
                </a:solidFill>
                <a:latin typeface="맑은 고딕"/>
              </a:rPr>
              <a:t>예: SG · Singapore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20624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C4554D"/>
                </a:solidFill>
                <a:latin typeface="맑은 고딕"/>
              </a:rPr>
              <a:t>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206240"/>
            <a:ext cx="6126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2A2A2A"/>
                </a:solidFill>
                <a:latin typeface="맑은 고딕"/>
              </a:rPr>
              <a:t>관련 시술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453128"/>
            <a:ext cx="6126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8A8A8A"/>
                </a:solidFill>
                <a:latin typeface="맑은 고딕"/>
              </a:rPr>
              <a:t>Step 3에서 만든 시술 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70916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C4554D"/>
                </a:solidFill>
                <a:latin typeface="맑은 고딕"/>
              </a:rPr>
              <a:t>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709160"/>
            <a:ext cx="6126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2A2A2A"/>
                </a:solidFill>
                <a:latin typeface="맑은 고딕"/>
              </a:rPr>
              <a:t>결과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956048"/>
            <a:ext cx="6126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8A8A8A"/>
                </a:solidFill>
                <a:latin typeface="맑은 고딕"/>
              </a:rPr>
              <a:t>matched / quoted / booked 등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21208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C4554D"/>
                </a:solidFill>
                <a:latin typeface="맑은 고딕"/>
              </a:rPr>
              <a:t>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212080"/>
            <a:ext cx="6126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2A2A2A"/>
                </a:solidFill>
                <a:latin typeface="맑은 고딕"/>
              </a:rPr>
              <a:t>운영자 시드 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458968"/>
            <a:ext cx="6126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8A8A8A"/>
                </a:solidFill>
                <a:latin typeface="맑은 고딕"/>
              </a:rPr>
              <a:t>운영자가 만든 표시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71500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C4554D"/>
                </a:solidFill>
                <a:latin typeface="맑은 고딕"/>
              </a:rPr>
              <a:t>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715000"/>
            <a:ext cx="6126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2A2A2A"/>
                </a:solidFill>
                <a:latin typeface="맑은 고딕"/>
              </a:rPr>
              <a:t>공개 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5961888"/>
            <a:ext cx="6126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8A8A8A"/>
                </a:solidFill>
                <a:latin typeface="맑은 고딕"/>
              </a:rPr>
              <a:t>사이트에 보이게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69480" y="2788920"/>
            <a:ext cx="4297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2A2A2A"/>
                </a:solidFill>
                <a:latin typeface="맑은 고딕"/>
              </a:rPr>
              <a:t>💡  왜 채우나요?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69480" y="3154680"/>
            <a:ext cx="42976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5A5A5A"/>
                </a:solidFill>
                <a:latin typeface="맑은 고딕"/>
              </a:rPr>
              <a:t>메인 화면 상단 '실시간으로 매칭되고 있어요' 띠와 'Recently matched' 섹션을 살리는 시드. 운영자가 5~10개 만들어두면 실 환자 옵트인 시 자동으로 늘어납니다.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269480" y="5074920"/>
            <a:ext cx="429768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1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269480" y="5074920"/>
            <a:ext cx="45720" cy="960120"/>
          </a:xfrm>
          <a:prstGeom prst="rect">
            <a:avLst/>
          </a:prstGeom>
          <a:solidFill>
            <a:srgbClr val="C9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52360" y="5184648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2A2A2A"/>
                </a:solidFill>
                <a:latin typeface="맑은 고딕"/>
              </a:rPr>
              <a:t>예시 · 좋은 분포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52360" y="5486400"/>
            <a:ext cx="4023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5A5A5A"/>
                </a:solidFill>
                <a:latin typeface="맑은 고딕"/>
              </a:rPr>
              <a:t>다양한 국가 (싱가포르·중국·일본·인니·미국) + 다양한 시술 (얼굴·바디·치과)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" y="5806440"/>
            <a:ext cx="10881360" cy="914400"/>
          </a:xfrm>
          <a:prstGeom prst="rect">
            <a:avLst/>
          </a:prstGeom>
          <a:solidFill>
            <a:srgbClr val="E8D4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40080" y="5806440"/>
            <a:ext cx="54864" cy="914400"/>
          </a:xfrm>
          <a:prstGeom prst="rect">
            <a:avLst/>
          </a:prstGeom>
          <a:solidFill>
            <a:srgbClr val="C9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594360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0">
                <a:solidFill>
                  <a:srgbClr val="C9A063"/>
                </a:solidFill>
                <a:latin typeface="맑은 고딕"/>
              </a:rPr>
              <a:t>✦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17320" y="5943600"/>
            <a:ext cx="9875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2A2A2A"/>
                </a:solidFill>
                <a:latin typeface="맑은 고딕"/>
              </a:rPr>
              <a:t>is_seed 토글 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417320" y="6263640"/>
            <a:ext cx="9875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5A5A5A"/>
                </a:solidFill>
                <a:latin typeface="맑은 고딕"/>
              </a:rPr>
              <a:t>운영자가 만든 시드와 실 환자 옵트인 항목을 구분하는 토글입니다.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9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8A8A8A"/>
                </a:solidFill>
                <a:latin typeface="맑은 고딕"/>
              </a:rPr>
              <a:t>✦  Glow Up Seoul · 운영 가이드북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0" i="0">
                <a:solidFill>
                  <a:srgbClr val="8A8A8A"/>
                </a:solidFill>
                <a:latin typeface="Calibri"/>
              </a:rPr>
              <a:t>21 / 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C9A063"/>
                </a:solidFill>
                <a:latin typeface="맑은 고딕"/>
              </a:rPr>
              <a:t>일상 · 매일 체크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2A2A2A"/>
                </a:solidFill>
                <a:latin typeface="맑은 고딕"/>
              </a:rPr>
              <a:t>신규 파트너 병원 신청 검토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202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1">
                <a:solidFill>
                  <a:srgbClr val="5A5A5A"/>
                </a:solidFill>
                <a:latin typeface="맑은 고딕"/>
              </a:rPr>
              <a:t>사이트 우측 하단 '파트너 등록' 으로 들어온 신청 처리.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514600"/>
            <a:ext cx="108813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1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2624328"/>
            <a:ext cx="347472" cy="347472"/>
          </a:xfrm>
          <a:prstGeom prst="rect">
            <a:avLst/>
          </a:prstGeom>
          <a:solidFill>
            <a:srgbClr val="C9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642616"/>
            <a:ext cx="34747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58775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 i="0">
                <a:solidFill>
                  <a:srgbClr val="2A2A2A"/>
                </a:solidFill>
                <a:latin typeface="맑은 고딕"/>
              </a:rPr>
              <a:t>WhatsApp 알림 확인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825496"/>
            <a:ext cx="10058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5A5A5A"/>
                </a:solidFill>
                <a:latin typeface="맑은 고딕"/>
              </a:rPr>
              <a:t>신청 들어오면 운영자에게 자동 알림. 클릭 시 신청 요약 카드.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118104"/>
            <a:ext cx="108813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1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3227832"/>
            <a:ext cx="347472" cy="347472"/>
          </a:xfrm>
          <a:prstGeom prst="rect">
            <a:avLst/>
          </a:prstGeom>
          <a:solidFill>
            <a:srgbClr val="C9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246120"/>
            <a:ext cx="34747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3191256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 i="0">
                <a:solidFill>
                  <a:srgbClr val="2A2A2A"/>
                </a:solidFill>
                <a:latin typeface="맑은 고딕"/>
              </a:rPr>
              <a:t>[파트너 신청서] 메뉴 진입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3429000"/>
            <a:ext cx="10058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5A5A5A"/>
                </a:solidFill>
                <a:latin typeface="맑은 고딕"/>
              </a:rPr>
              <a:t>사이드바 두 번째 → 리스트 → 카드 클릭.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721608"/>
            <a:ext cx="108813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1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" y="3831336"/>
            <a:ext cx="347472" cy="347472"/>
          </a:xfrm>
          <a:prstGeom prst="rect">
            <a:avLst/>
          </a:prstGeom>
          <a:solidFill>
            <a:srgbClr val="C9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3849624"/>
            <a:ext cx="34747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379476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 i="0">
                <a:solidFill>
                  <a:srgbClr val="2A2A2A"/>
                </a:solidFill>
                <a:latin typeface="맑은 고딕"/>
              </a:rPr>
              <a:t>내용 검토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" y="4032504"/>
            <a:ext cx="10058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5A5A5A"/>
                </a:solidFill>
                <a:latin typeface="맑은 고딕"/>
              </a:rPr>
              <a:t>면허 · 안전 기록 · 외국인 응대 능력 · 중복 여부 확인.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4325112"/>
            <a:ext cx="108813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1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960" y="4434840"/>
            <a:ext cx="347472" cy="347472"/>
          </a:xfrm>
          <a:prstGeom prst="rect">
            <a:avLst/>
          </a:prstGeom>
          <a:solidFill>
            <a:srgbClr val="C9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4453128"/>
            <a:ext cx="34747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25880" y="4398264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 i="0">
                <a:solidFill>
                  <a:srgbClr val="2A2A2A"/>
                </a:solidFill>
                <a:latin typeface="맑은 고딕"/>
              </a:rPr>
              <a:t>[승인] 또는 [거절]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4636008"/>
            <a:ext cx="10058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5A5A5A"/>
                </a:solidFill>
                <a:latin typeface="맑은 고딕"/>
              </a:rPr>
              <a:t>승인: 브랜드+병원 자동 등록 ('대기 중' 상태). 거절: 파일 보관함으로 이동.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4928616"/>
            <a:ext cx="108813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1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22960" y="5038344"/>
            <a:ext cx="347472" cy="347472"/>
          </a:xfrm>
          <a:prstGeom prst="rect">
            <a:avLst/>
          </a:prstGeom>
          <a:solidFill>
            <a:srgbClr val="C9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5056632"/>
            <a:ext cx="34747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25880" y="500176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 i="0">
                <a:solidFill>
                  <a:srgbClr val="2A2A2A"/>
                </a:solidFill>
                <a:latin typeface="맑은 고딕"/>
              </a:rPr>
              <a:t>승인 병원 → '활성' 전환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25880" y="5239512"/>
            <a:ext cx="10058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5A5A5A"/>
                </a:solidFill>
                <a:latin typeface="맑은 고딕"/>
              </a:rPr>
              <a:t>[병원] 메뉴에서 행 찾아 계약 상태 '활성'으로 + 사진/의사/시술 채우기.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5806440"/>
            <a:ext cx="10881360" cy="914400"/>
          </a:xfrm>
          <a:prstGeom prst="rect">
            <a:avLst/>
          </a:prstGeom>
          <a:solidFill>
            <a:srgbClr val="E8D4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40080" y="5806440"/>
            <a:ext cx="54864" cy="914400"/>
          </a:xfrm>
          <a:prstGeom prst="rect">
            <a:avLst/>
          </a:prstGeom>
          <a:solidFill>
            <a:srgbClr val="C9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" y="594360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0">
                <a:solidFill>
                  <a:srgbClr val="C9A063"/>
                </a:solidFill>
                <a:latin typeface="맑은 고딕"/>
              </a:rPr>
              <a:t>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17320" y="5943600"/>
            <a:ext cx="9875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2A2A2A"/>
                </a:solidFill>
                <a:latin typeface="맑은 고딕"/>
              </a:rPr>
              <a:t>자동 등록 ≠ 자동 공개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417320" y="6263640"/>
            <a:ext cx="9875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5A5A5A"/>
                </a:solidFill>
                <a:latin typeface="맑은 고딕"/>
              </a:rPr>
              <a:t>승인하면 DB엔 들어가지만 '대기 중' 이라 사이트엔 안 보임. 의도된 2단계 안전망입니다.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9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8A8A8A"/>
                </a:solidFill>
                <a:latin typeface="맑은 고딕"/>
              </a:rPr>
              <a:t>✦  Glow Up Seoul · 운영 가이드북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0" i="0">
                <a:solidFill>
                  <a:srgbClr val="8A8A8A"/>
                </a:solidFill>
                <a:latin typeface="Calibri"/>
              </a:rPr>
              <a:t>22 / 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C9A063"/>
                </a:solidFill>
                <a:latin typeface="맑은 고딕"/>
              </a:rPr>
              <a:t>일상 · 환자 권리 요청 대응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2A2A2A"/>
                </a:solidFill>
                <a:latin typeface="맑은 고딕"/>
              </a:rPr>
              <a:t>환자가 데이터 삭제를 요청할 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202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1">
                <a:solidFill>
                  <a:srgbClr val="5A5A5A"/>
                </a:solidFill>
                <a:latin typeface="맑은 고딕"/>
              </a:rPr>
              <a:t>PIPA(한국) + GDPR(EU) 30일 처리 의무. 매우 중요.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514600"/>
            <a:ext cx="108813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1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2624328"/>
            <a:ext cx="347472" cy="347472"/>
          </a:xfrm>
          <a:prstGeom prst="rect">
            <a:avLst/>
          </a:prstGeom>
          <a:solidFill>
            <a:srgbClr val="C455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642616"/>
            <a:ext cx="34747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58775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 i="0">
                <a:solidFill>
                  <a:srgbClr val="2A2A2A"/>
                </a:solidFill>
                <a:latin typeface="맑은 고딕"/>
              </a:rPr>
              <a:t>이메일 확인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825496"/>
            <a:ext cx="10058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5A5A5A"/>
                </a:solidFill>
                <a:latin typeface="맑은 고딕"/>
              </a:rPr>
              <a:t>glowupinseoul@gmail.com 으로 "erasure request" 또는 "개인정보 삭제 요청" 수신.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118104"/>
            <a:ext cx="108813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1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3227832"/>
            <a:ext cx="347472" cy="347472"/>
          </a:xfrm>
          <a:prstGeom prst="rect">
            <a:avLst/>
          </a:prstGeom>
          <a:solidFill>
            <a:srgbClr val="C455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246120"/>
            <a:ext cx="34747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3191256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 i="0">
                <a:solidFill>
                  <a:srgbClr val="2A2A2A"/>
                </a:solidFill>
                <a:latin typeface="맑은 고딕"/>
              </a:rPr>
              <a:t>본인 확인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3429000"/>
            <a:ext cx="10058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5A5A5A"/>
                </a:solidFill>
                <a:latin typeface="맑은 고딕"/>
              </a:rPr>
              <a:t>해당 환자가 우리와 상담한 적 있는지 메일/WhatsApp 기록으로 확인.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721608"/>
            <a:ext cx="108813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1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" y="3831336"/>
            <a:ext cx="347472" cy="347472"/>
          </a:xfrm>
          <a:prstGeom prst="rect">
            <a:avLst/>
          </a:prstGeom>
          <a:solidFill>
            <a:srgbClr val="C455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3849624"/>
            <a:ext cx="34747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379476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 i="0">
                <a:solidFill>
                  <a:srgbClr val="2A2A2A"/>
                </a:solidFill>
                <a:latin typeface="맑은 고딕"/>
              </a:rPr>
              <a:t>관련 데이터 찾기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" y="4032504"/>
            <a:ext cx="10058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5A5A5A"/>
                </a:solidFill>
                <a:latin typeface="맑은 고딕"/>
              </a:rPr>
              <a:t>[실시간 피드] 메뉴에서 검색 → 공개 OFF 또는 행 삭제.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4325112"/>
            <a:ext cx="108813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1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960" y="4434840"/>
            <a:ext cx="347472" cy="347472"/>
          </a:xfrm>
          <a:prstGeom prst="rect">
            <a:avLst/>
          </a:prstGeom>
          <a:solidFill>
            <a:srgbClr val="C455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4453128"/>
            <a:ext cx="34747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25880" y="4398264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 i="0">
                <a:solidFill>
                  <a:srgbClr val="2A2A2A"/>
                </a:solidFill>
                <a:latin typeface="맑은 고딕"/>
              </a:rPr>
              <a:t>스캔 기록 삭제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4636008"/>
            <a:ext cx="10058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5A5A5A"/>
                </a:solidFill>
                <a:latin typeface="맑은 고딕"/>
              </a:rPr>
              <a:t>별도 보관분은 개발자에게 위탁: "세션 토큰 XXX 삭제".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4928616"/>
            <a:ext cx="108813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1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22960" y="5038344"/>
            <a:ext cx="347472" cy="347472"/>
          </a:xfrm>
          <a:prstGeom prst="rect">
            <a:avLst/>
          </a:prstGeom>
          <a:solidFill>
            <a:srgbClr val="C455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5056632"/>
            <a:ext cx="34747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25880" y="500176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 i="0">
                <a:solidFill>
                  <a:srgbClr val="2A2A2A"/>
                </a:solidFill>
                <a:latin typeface="맑은 고딕"/>
              </a:rPr>
              <a:t>회신 + 기록 보존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25880" y="5239512"/>
            <a:ext cx="10058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5A5A5A"/>
                </a:solidFill>
                <a:latin typeface="맑은 고딕"/>
              </a:rPr>
              <a:t>환자에게 "30일 내 완료" 회신. 회신 메일 캡쳐 보관 (분쟁 증거).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5806440"/>
            <a:ext cx="10881360" cy="914400"/>
          </a:xfrm>
          <a:prstGeom prst="rect">
            <a:avLst/>
          </a:prstGeom>
          <a:solidFill>
            <a:srgbClr val="FA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40080" y="5806440"/>
            <a:ext cx="54864" cy="914400"/>
          </a:xfrm>
          <a:prstGeom prst="rect">
            <a:avLst/>
          </a:prstGeom>
          <a:solidFill>
            <a:srgbClr val="C455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" y="594360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0">
                <a:solidFill>
                  <a:srgbClr val="C4554D"/>
                </a:solidFill>
                <a:latin typeface="맑은 고딕"/>
              </a:rPr>
              <a:t>⚠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17320" y="5943600"/>
            <a:ext cx="9875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2A2A2A"/>
                </a:solidFill>
                <a:latin typeface="맑은 고딕"/>
              </a:rPr>
              <a:t>30일 데드라인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417320" y="6263640"/>
            <a:ext cx="9875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5A5A5A"/>
                </a:solidFill>
                <a:latin typeface="맑은 고딕"/>
              </a:rPr>
              <a:t>법적 의무 — 처리 누락 시 PIPA + GDPR 위반. 항상 회신 우선.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9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8A8A8A"/>
                </a:solidFill>
                <a:latin typeface="맑은 고딕"/>
              </a:rPr>
              <a:t>✦  Glow Up Seoul · 운영 가이드북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0" i="0">
                <a:solidFill>
                  <a:srgbClr val="8A8A8A"/>
                </a:solidFill>
                <a:latin typeface="Calibri"/>
              </a:rPr>
              <a:t>23 / 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C9A063"/>
                </a:solidFill>
                <a:latin typeface="맑은 고딕"/>
              </a:rPr>
              <a:t>막혔을 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2A2A2A"/>
                </a:solidFill>
                <a:latin typeface="맑은 고딕"/>
              </a:rPr>
              <a:t>누구에게 어떻게 연락하나요?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194560"/>
            <a:ext cx="3520440" cy="1554480"/>
          </a:xfrm>
          <a:prstGeom prst="rect">
            <a:avLst/>
          </a:prstGeom>
          <a:solidFill>
            <a:srgbClr val="E8D4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194560"/>
            <a:ext cx="54864" cy="1554480"/>
          </a:xfrm>
          <a:prstGeom prst="rect">
            <a:avLst/>
          </a:prstGeom>
          <a:solidFill>
            <a:srgbClr val="C9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331720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2A2A2A"/>
                </a:solidFill>
                <a:latin typeface="맑은 고딕"/>
              </a:rPr>
              <a:t>Admin 화면이 안 열려요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788920"/>
            <a:ext cx="3154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5A5A5A"/>
                </a:solidFill>
                <a:latin typeface="맑은 고딕"/>
              </a:rPr>
              <a:t>1. Ctrl+F5 새로고침</a:t>
            </a:r>
          </a:p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5A5A5A"/>
                </a:solidFill>
                <a:latin typeface="맑은 고딕"/>
              </a:rPr>
              <a:t>2. 그래도 안 되면 개발자 연락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43400" y="2194560"/>
            <a:ext cx="3520440" cy="1554480"/>
          </a:xfrm>
          <a:prstGeom prst="rect">
            <a:avLst/>
          </a:prstGeom>
          <a:solidFill>
            <a:srgbClr val="E8D4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2194560"/>
            <a:ext cx="54864" cy="1554480"/>
          </a:xfrm>
          <a:prstGeom prst="rect">
            <a:avLst/>
          </a:prstGeom>
          <a:solidFill>
            <a:srgbClr val="C9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2331720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2A2A2A"/>
                </a:solidFill>
                <a:latin typeface="맑은 고딕"/>
              </a:rPr>
              <a:t>저장했는데 사이트에 안 보여요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788920"/>
            <a:ext cx="3154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5A5A5A"/>
                </a:solidFill>
                <a:latin typeface="맑은 고딕"/>
              </a:rPr>
              <a:t>1. 계약 상태 '활성' 확인</a:t>
            </a:r>
          </a:p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5A5A5A"/>
                </a:solidFill>
                <a:latin typeface="맑은 고딕"/>
              </a:rPr>
              <a:t>2. 사진 채웠는지 확인</a:t>
            </a:r>
          </a:p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5A5A5A"/>
                </a:solidFill>
                <a:latin typeface="맑은 고딕"/>
              </a:rPr>
              <a:t>3. 새로고침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20" y="2194560"/>
            <a:ext cx="3520440" cy="1554480"/>
          </a:xfrm>
          <a:prstGeom prst="rect">
            <a:avLst/>
          </a:prstGeom>
          <a:solidFill>
            <a:srgbClr val="FA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2194560"/>
            <a:ext cx="54864" cy="1554480"/>
          </a:xfrm>
          <a:prstGeom prst="rect">
            <a:avLst/>
          </a:prstGeom>
          <a:solidFill>
            <a:srgbClr val="C455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20" y="2331720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2A2A2A"/>
                </a:solidFill>
                <a:latin typeface="맑은 고딕"/>
              </a:rPr>
              <a:t>환자가 데이터 삭제 요청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2788920"/>
            <a:ext cx="3154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5A5A5A"/>
                </a:solidFill>
                <a:latin typeface="맑은 고딕"/>
              </a:rPr>
              <a:t>1. 30일 이내 처리 의무</a:t>
            </a:r>
          </a:p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5A5A5A"/>
                </a:solidFill>
                <a:latin typeface="맑은 고딕"/>
              </a:rPr>
              <a:t>2. 직전 슬라이드 5단계대로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931920"/>
            <a:ext cx="3520440" cy="1554480"/>
          </a:xfrm>
          <a:prstGeom prst="rect">
            <a:avLst/>
          </a:prstGeom>
          <a:solidFill>
            <a:srgbClr val="FA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3931920"/>
            <a:ext cx="54864" cy="1554480"/>
          </a:xfrm>
          <a:prstGeom prst="rect">
            <a:avLst/>
          </a:prstGeom>
          <a:solidFill>
            <a:srgbClr val="C455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069080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2A2A2A"/>
                </a:solidFill>
                <a:latin typeface="맑은 고딕"/>
              </a:rPr>
              <a:t>환자가 부작용을 호소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526280"/>
            <a:ext cx="3154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5A5A5A"/>
                </a:solidFill>
                <a:latin typeface="맑은 고딕"/>
              </a:rPr>
              <a:t>1. 즉시 해당 병원 연락</a:t>
            </a:r>
          </a:p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5A5A5A"/>
                </a:solidFill>
                <a:latin typeface="맑은 고딕"/>
              </a:rPr>
              <a:t>2. 변호사 자문 검토</a:t>
            </a:r>
          </a:p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5A5A5A"/>
                </a:solidFill>
                <a:latin typeface="맑은 고딕"/>
              </a:rPr>
              <a:t>3. 기록 남김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43400" y="3931920"/>
            <a:ext cx="3520440" cy="1554480"/>
          </a:xfrm>
          <a:prstGeom prst="rect">
            <a:avLst/>
          </a:prstGeom>
          <a:solidFill>
            <a:srgbClr val="E8D4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43400" y="3931920"/>
            <a:ext cx="54864" cy="1554480"/>
          </a:xfrm>
          <a:prstGeom prst="rect">
            <a:avLst/>
          </a:prstGeom>
          <a:solidFill>
            <a:srgbClr val="C9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0" y="4069080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2A2A2A"/>
                </a:solidFill>
                <a:latin typeface="맑은 고딕"/>
              </a:rPr>
              <a:t>법적인 질문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4526280"/>
            <a:ext cx="3154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5A5A5A"/>
                </a:solidFill>
                <a:latin typeface="맑은 고딕"/>
              </a:rPr>
              <a:t>1차: Privacy Policy 페이지</a:t>
            </a:r>
          </a:p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5A5A5A"/>
                </a:solidFill>
                <a:latin typeface="맑은 고딕"/>
              </a:rPr>
              <a:t>2차: 변호사 상담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46720" y="3931920"/>
            <a:ext cx="3520440" cy="1554480"/>
          </a:xfrm>
          <a:prstGeom prst="rect">
            <a:avLst/>
          </a:prstGeom>
          <a:solidFill>
            <a:srgbClr val="E8D4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46720" y="3931920"/>
            <a:ext cx="54864" cy="1554480"/>
          </a:xfrm>
          <a:prstGeom prst="rect">
            <a:avLst/>
          </a:prstGeom>
          <a:solidFill>
            <a:srgbClr val="C9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75320" y="4069080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2A2A2A"/>
                </a:solidFill>
                <a:latin typeface="맑은 고딕"/>
              </a:rPr>
              <a:t>기능을 추가하고 싶어요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5320" y="4526280"/>
            <a:ext cx="3154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5A5A5A"/>
                </a:solidFill>
                <a:latin typeface="맑은 고딕"/>
              </a:rPr>
              <a:t>운영자에게 한 줄로 요청</a:t>
            </a:r>
          </a:p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5A5A5A"/>
                </a:solidFill>
                <a:latin typeface="맑은 고딕"/>
              </a:rPr>
              <a:t>개발자가 구현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" y="5897880"/>
            <a:ext cx="10881360" cy="914400"/>
          </a:xfrm>
          <a:prstGeom prst="rect">
            <a:avLst/>
          </a:prstGeom>
          <a:solidFill>
            <a:srgbClr val="E8D4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40080" y="5897880"/>
            <a:ext cx="54864" cy="914400"/>
          </a:xfrm>
          <a:prstGeom prst="rect">
            <a:avLst/>
          </a:prstGeom>
          <a:solidFill>
            <a:srgbClr val="C9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603504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0">
                <a:solidFill>
                  <a:srgbClr val="C9A063"/>
                </a:solidFill>
                <a:latin typeface="맑은 고딕"/>
              </a:rPr>
              <a:t>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17320" y="6035040"/>
            <a:ext cx="9875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2A2A2A"/>
                </a:solidFill>
                <a:latin typeface="맑은 고딕"/>
              </a:rPr>
              <a:t>주요 연락처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17320" y="6355080"/>
            <a:ext cx="9875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5A5A5A"/>
                </a:solidFill>
                <a:latin typeface="맑은 고딕"/>
              </a:rPr>
              <a:t>개발자(태희) WhatsApp · 운영자 슬랙/카톡 · 변호사(추후) · glowupinseoul@gmail.com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9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8A8A8A"/>
                </a:solidFill>
                <a:latin typeface="맑은 고딕"/>
              </a:rPr>
              <a:t>✦  Glow Up Seoul · 운영 가이드북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0" i="0">
                <a:solidFill>
                  <a:srgbClr val="8A8A8A"/>
                </a:solidFill>
                <a:latin typeface="Calibri"/>
              </a:rPr>
              <a:t>24 / 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C9A063"/>
                </a:solidFill>
                <a:latin typeface="맑은 고딕"/>
              </a:rPr>
              <a:t>마무리 · 일상 체크리스트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2A2A2A"/>
                </a:solidFill>
                <a:latin typeface="맑은 고딕"/>
              </a:rPr>
              <a:t>운영 리듬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202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1">
                <a:solidFill>
                  <a:srgbClr val="5A5A5A"/>
                </a:solidFill>
                <a:latin typeface="맑은 고딕"/>
              </a:rPr>
              <a:t>처음 등록을 끝낸 후엔 이 리듬으로 유지하시면 됩니다.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697480"/>
            <a:ext cx="352044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E1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697480"/>
            <a:ext cx="3520440" cy="457200"/>
          </a:xfrm>
          <a:prstGeom prst="rect">
            <a:avLst/>
          </a:prstGeom>
          <a:solidFill>
            <a:srgbClr val="C9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788920"/>
            <a:ext cx="3520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1" i="0">
                <a:solidFill>
                  <a:srgbClr val="FFFFFF"/>
                </a:solidFill>
                <a:latin typeface="맑은 고딕"/>
              </a:rPr>
              <a:t>매일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337560"/>
            <a:ext cx="3063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2A2A2A"/>
                </a:solidFill>
                <a:latin typeface="맑은 고딕"/>
              </a:rPr>
              <a:t>□  [파트너 신청서] 새 항목 확인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794760"/>
            <a:ext cx="3063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2A2A2A"/>
                </a:solidFill>
                <a:latin typeface="맑은 고딕"/>
              </a:rPr>
              <a:t>□  WhatsApp 새 메시지 응답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251960"/>
            <a:ext cx="3063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2A2A2A"/>
                </a:solidFill>
                <a:latin typeface="맑은 고딕"/>
              </a:rPr>
              <a:t>□  새 옵트인 후기 확인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3400" y="2697480"/>
            <a:ext cx="352044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E1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3400" y="2697480"/>
            <a:ext cx="3520440" cy="457200"/>
          </a:xfrm>
          <a:prstGeom prst="rect">
            <a:avLst/>
          </a:prstGeom>
          <a:solidFill>
            <a:srgbClr val="C9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43400" y="2788920"/>
            <a:ext cx="3520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1" i="0">
                <a:solidFill>
                  <a:srgbClr val="FFFFFF"/>
                </a:solidFill>
                <a:latin typeface="맑은 고딕"/>
              </a:rPr>
              <a:t>매주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3337560"/>
            <a:ext cx="3063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2A2A2A"/>
                </a:solidFill>
                <a:latin typeface="맑은 고딕"/>
              </a:rPr>
              <a:t>□  [실시간 피드] 오래된 시드 정리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3794760"/>
            <a:ext cx="3063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2A2A2A"/>
                </a:solidFill>
                <a:latin typeface="맑은 고딕"/>
              </a:rPr>
              <a:t>□  새 B&amp;A 사진 동의 확인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4251960"/>
            <a:ext cx="3063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2A2A2A"/>
                </a:solidFill>
                <a:latin typeface="맑은 고딕"/>
              </a:rPr>
              <a:t>□  파트너 신청 검토 대기 정리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46720" y="2697480"/>
            <a:ext cx="352044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E1D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46720" y="2697480"/>
            <a:ext cx="3520440" cy="457200"/>
          </a:xfrm>
          <a:prstGeom prst="rect">
            <a:avLst/>
          </a:prstGeom>
          <a:solidFill>
            <a:srgbClr val="C9A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0" y="2788920"/>
            <a:ext cx="3520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1" i="0">
                <a:solidFill>
                  <a:srgbClr val="FFFFFF"/>
                </a:solidFill>
                <a:latin typeface="맑은 고딕"/>
              </a:rPr>
              <a:t>매월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20" y="3337560"/>
            <a:ext cx="3063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2A2A2A"/>
                </a:solidFill>
                <a:latin typeface="맑은 고딕"/>
              </a:rPr>
              <a:t>□  병원 가격·이벤트 최신화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20" y="3794760"/>
            <a:ext cx="3063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2A2A2A"/>
                </a:solidFill>
                <a:latin typeface="맑은 고딕"/>
              </a:rPr>
              <a:t>□  의사 변경 사항 반영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5320" y="4251960"/>
            <a:ext cx="3063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2A2A2A"/>
                </a:solidFill>
                <a:latin typeface="맑은 고딕"/>
              </a:rPr>
              <a:t>□  Privacy Policy 변경 사항 검토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20" y="4709160"/>
            <a:ext cx="3063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2A2A2A"/>
                </a:solidFill>
                <a:latin typeface="맑은 고딕"/>
              </a:rPr>
              <a:t>□  새 시술 추가 (시장 반영)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0" i="1">
                <a:solidFill>
                  <a:srgbClr val="C9A063"/>
                </a:solidFill>
                <a:latin typeface="맑은 고딕"/>
              </a:rPr>
              <a:t>✦  Your Skin. Your Story. Seoul.  —  글로업 서울 운영팀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