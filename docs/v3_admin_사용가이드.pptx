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254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B8916A"/>
                </a:solidFill>
                <a:latin typeface="맑은 고딕"/>
              </a:rPr>
              <a:t>✦  GLOW UP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AFAF7"/>
                </a:solidFill>
                <a:latin typeface="맑은 고딕"/>
              </a:rPr>
              <a:t>관리자 페이지 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CBC4B6"/>
                </a:solidFill>
                <a:latin typeface="맑은 고딕"/>
              </a:rPr>
              <a:t>시술 · 수술 · 고민을 직접 추가하고 수정하는 법  —  비전공자용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B6B6B"/>
                </a:solidFill>
                <a:latin typeface="맑은 고딕"/>
              </a:rPr>
              <a:t>기준일 2026-06-14   ·   화면 글자는 모두 영어로 입력합니다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아래 순서대로 보시면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1.  시작하기 — 접속과 로그인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2.  화면 구성 — 탭 3개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3.  꼭 기억할 5가지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4.  시술 등록 따라하기 (Ulthera 예시)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5.  시술 필드 사전 — 칸마다 무슨 값인가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6.  선택지 값 모음 (통증·회복·지속)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7.  수술 관리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8.  고민(Concerns) 관리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9.  고민 연결 &amp; 이유 — 매칭의 핵심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800" b="0" i="0">
                <a:solidFill>
                  <a:srgbClr val="18181A"/>
                </a:solidFill>
                <a:latin typeface="맑은 고딕"/>
              </a:rPr>
              <a:t>10. 태그 · 사진 · 자주 묻는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1. 시작하기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관리자 페이지란? 고객 사이트의 내용을 직접 고치는 곳입니다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6070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8A6A4A"/>
                </a:solidFill>
                <a:latin typeface="맑은 고딕"/>
              </a:rPr>
              <a:t>들어가는 법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주소창에 사이트 주소 뒤에 /admin 을 붙입니다.  예) glowupseoul.com/admin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관리자 키(비밀번호)를 입력하고 Sign in 을 누릅니다.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키는 담당 개발자에게 받으세요. 분실·유출 시 바로 알려 교체하세요.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여기서 저장하면 고객 사이트에 곧바로 반영됩니다.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18181A"/>
                </a:solidFill>
                <a:latin typeface="맑은 고딕"/>
              </a:rPr>
              <a:t> 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8A6A4A"/>
                </a:solidFill>
                <a:latin typeface="맑은 고딕"/>
              </a:rPr>
              <a:t>이 가이드는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관리자에서 직접 바꾸는 부분(시술/수술/고민)을 다룹니다.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디자인에 박힌 고정 문구는 별도 파일(클라이언트 명세서 엑셀)에서 검수합니다.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2. 화면 구성 — 상단 탭 3개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37744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377440"/>
            <a:ext cx="3429000" cy="635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8181A"/>
                </a:solidFill>
                <a:latin typeface="맑은 고딕"/>
              </a:rPr>
              <a:t>Treatments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8A6A4A"/>
                </a:solidFill>
                <a:latin typeface="맑은 고딕"/>
              </a:rPr>
              <a:t>시술 (비수술)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울쎄라 · 써마지 · 필러 · 레이저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237744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2377440"/>
            <a:ext cx="3429000" cy="63500"/>
          </a:xfrm>
          <a:prstGeom prst="rect">
            <a:avLst/>
          </a:prstGeom>
          <a:solidFill>
            <a:srgbClr val="8A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7432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8181A"/>
                </a:solidFill>
                <a:latin typeface="맑은 고딕"/>
              </a:rPr>
              <a:t>Surgeries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8A6A4A"/>
                </a:solidFill>
                <a:latin typeface="맑은 고딕"/>
              </a:rPr>
              <a:t>수술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코 · 눈 · 지방흡입 · 안면거상 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4" y="237744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5864" y="2377440"/>
            <a:ext cx="3429000" cy="63500"/>
          </a:xfrm>
          <a:prstGeom prst="rect">
            <a:avLst/>
          </a:prstGeom>
          <a:solidFill>
            <a:srgbClr val="18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4" y="27432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8181A"/>
                </a:solidFill>
                <a:latin typeface="맑은 고딕"/>
              </a:rPr>
              <a:t>고민 Concerns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8A6A4A"/>
                </a:solidFill>
                <a:latin typeface="맑은 고딕"/>
              </a:rPr>
              <a:t>부위 · 고민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챗봇 질문지와 추천의 바탕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8181A"/>
                </a:solidFill>
                <a:latin typeface="맑은 고딕"/>
              </a:rPr>
              <a:t>각 탭에서 New 버튼으로 새로 만들고, 목록의 카드를 눌러 수정합니다.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3. 꼭 기억할 5가지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240280"/>
            <a:ext cx="10469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B8916A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 dirty="0" err="1">
                <a:solidFill>
                  <a:srgbClr val="18181A"/>
                </a:solidFill>
                <a:latin typeface="맑은 고딕"/>
              </a:rPr>
              <a:t>모든</a:t>
            </a:r>
            <a:r>
              <a:rPr sz="1700" b="1" i="0" dirty="0">
                <a:solidFill>
                  <a:srgbClr val="18181A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8181A"/>
                </a:solidFill>
                <a:latin typeface="맑은 고딕"/>
              </a:rPr>
              <a:t>글자는</a:t>
            </a:r>
            <a:r>
              <a:rPr sz="1700" b="1" i="0" dirty="0">
                <a:solidFill>
                  <a:srgbClr val="18181A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18181A"/>
                </a:solidFill>
                <a:latin typeface="맑은 고딕"/>
              </a:rPr>
              <a:t>영어로</a:t>
            </a:r>
            <a:endParaRPr sz="1700" b="1" i="0" dirty="0">
              <a:solidFill>
                <a:srgbClr val="18181A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2489174"/>
            <a:ext cx="6446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400" b="0" i="0" dirty="0">
                <a:solidFill>
                  <a:srgbClr val="6B6B6B"/>
                </a:solidFill>
                <a:latin typeface="맑은 고딕"/>
              </a:rPr>
              <a:t>영문으로 입력할 것</a:t>
            </a:r>
            <a:endParaRPr sz="1400" b="0" i="0" dirty="0">
              <a:solidFill>
                <a:srgbClr val="6B6B6B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3063240"/>
            <a:ext cx="10469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B8916A"/>
                </a:solidFill>
                <a:latin typeface="맑은 고딕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6324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Visible 체크 = 공개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63240"/>
            <a:ext cx="6446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‘Visible on the site’ 를 끄면 고객 사이트에서 사라집니다.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10469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B8916A"/>
                </a:solidFill>
                <a:latin typeface="맑은 고딕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8620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Slug 는 바꾸지 않기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86200"/>
            <a:ext cx="6446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영문 주소 키. 바꾸면 링크가 깨집니다. 보통 자동 생성이라 그대로 두세요.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709160"/>
            <a:ext cx="10469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70916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B8916A"/>
                </a:solidFill>
                <a:latin typeface="맑은 고딕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0916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사진은 가능하면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60"/>
            <a:ext cx="6446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필수는 아니지만, 없으면 카드가 밋밋합니다.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532120"/>
            <a:ext cx="10469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53212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B8916A"/>
                </a:solidFill>
                <a:latin typeface="맑은 고딕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321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고민 연결이 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532120"/>
            <a:ext cx="6446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시술마다 어떤 고민에 좋은지 꼭 연결하세요. 추천이 여기서 나옵니다.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4. 시술 등록 따라하기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Treatments 탭 → ＋ New Treatment.  예시: Ulthera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40280"/>
          <a:ext cx="10652757" cy="4636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7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화면 항목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무엇을 하나요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예시 입력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시술 이름 (영문·필수)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Ulthera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Short summary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한 문장 설명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Non-invasive HIFU lifting…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Photo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대표 사진 업로드 (드래그/클릭)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시술 대표 이미지 1장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Tags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키워드 — Enter 추가, × 삭제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Lifting / Non-invasive / HIFU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Description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본문 전체 (오른쪽 미리보기)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## What to expect …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Price (KRW)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참고 가격(숫자). 비우면 Consult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700000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Price note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가격 옆 단서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from 300 shots (reference)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How long it lasts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효과 지속 — 보기 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~1–2 years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Pain / Recovery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통증·회복 — 보기 선택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Mild / Back to normal right away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Good for / Note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추천 대상·유의점 한 줄씩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incision 없이 리프팅 …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고민 연결 + 이유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매칭 핵심! 고민 고르고 이유 입력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Sagging &amp; firmness → 이유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A6A4A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Visible → Save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공개 체크 후 저장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✅ 체크 → Save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5. 시술 필드 사전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각 칸이 무슨 값이고, 고객 화면 어디에 보이는지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11109957" cy="4274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화면 항목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무슨 값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실제 예시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고객 화면 위치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필수?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시술 이름(영문)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Ulthera, Rhinoplasty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 제목·상세 제목·챗봇 추천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Short summary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한 문장 설명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Non-invasive HIFU lifting…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카드/상세 부제·챗봇 설명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Photo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대표 사진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(업로드 이미지)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 썸네일·상세 큰 사진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Tags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키워드 칩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Lifting, HIFU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 하단 칩·상세 상단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Description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본문(Markdown)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제목·목록·굵게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본문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Price (KRW)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참고 가격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700000 → ₩700,000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 from…·상세 Price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Price note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가격 단서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from 300 shots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Price 옆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How long it lasts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효과 지속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~1–2 years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Results last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Pain level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통증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Mild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Comfort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Recovery time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회복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Back to normal…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카드 ⏱·상세 Downtime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Good for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추천 대상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incision 없이 리프팅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Good for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Things to note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유의점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약간의 붓기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상세 Things to note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고민 연결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고민+이유(매칭)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Sagging &amp; firmness …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C24E7A"/>
                          </a:solidFill>
                          <a:latin typeface="맑은 고딕"/>
                        </a:rPr>
                        <a:t>상세 Helps with·Why it helps·챗봇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핵심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Sort order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정렬(숫자)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1, 2, 3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목록 순서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Slug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URL 키(자동)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ulthera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주소·사진폴더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건들지마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8181A"/>
                          </a:solidFill>
                          <a:latin typeface="맑은 고딕"/>
                        </a:rPr>
                        <a:t>Visible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6B6B6B"/>
                          </a:solidFill>
                          <a:latin typeface="맑은 고딕"/>
                        </a:rPr>
                        <a:t>공개 여부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8181A"/>
                          </a:solidFill>
                          <a:latin typeface="맑은 고딕"/>
                        </a:rPr>
                        <a:t>체크=보임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끄면 사이트에서 사라짐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8A6A4A"/>
                          </a:solidFill>
                          <a:latin typeface="맑은 고딕"/>
                        </a:rPr>
                        <a:t>중요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6. 선택지 값 모음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버튼으로 고르면 됩니다 — 참고용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3429000" cy="508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2560320"/>
            <a:ext cx="29260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효과 지속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temporary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Temporary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months_3_6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3–6개월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months_6_12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6–12개월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year_1_2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1–2년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years_2_plus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2년 이상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semi_permanent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반영구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permanent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영구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22860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2286000"/>
            <a:ext cx="3429000" cy="50800"/>
          </a:xfrm>
          <a:prstGeom prst="rect">
            <a:avLst/>
          </a:prstGeom>
          <a:solidFill>
            <a:srgbClr val="8A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2560320"/>
            <a:ext cx="29260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통증 / 회복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soft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거의 없음 🙂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mild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약간 😐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hard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있음 😣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immediate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바로 일상 ⚡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1_2_days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1–2일 🌙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1_week_plus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1주 이상 🗓️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429000" cy="50800"/>
          </a:xfrm>
          <a:prstGeom prst="rect">
            <a:avLst/>
          </a:prstGeom>
          <a:solidFill>
            <a:srgbClr val="18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560320"/>
            <a:ext cx="29260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8181A"/>
                </a:solidFill>
                <a:latin typeface="맑은 고딕"/>
              </a:rPr>
              <a:t>고민 관련도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primary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주된 해결 (기본)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300" b="1" i="0">
                <a:solidFill>
                  <a:srgbClr val="8A6A4A"/>
                </a:solidFill>
                <a:latin typeface="맑은 고딕"/>
              </a:rPr>
              <a:t>secondary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→ 보조적으로 도움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7. 수술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입력 방법은 시술과 100% 동일 · Surgeries 탭에서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94560"/>
          <a:ext cx="10652758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수술 이름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한 줄 설명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참고가격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연결된 고민</a:t>
                      </a:r>
                    </a:p>
                  </a:txBody>
                  <a:tcPr marL="88900" marR="63500" marT="38100" marB="38100" anchor="ctr">
                    <a:solidFill>
                      <a:srgbClr val="181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Rhinoplasty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Surgical reshaping of the nose.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₩4,000,000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Nose shape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Double Eyelid Surgery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Creates a natural double-eyelid crease.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₩1,500,000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Double eyelid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Ptosis Correction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Tightens the muscle that lifts a droopy eyelid.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₩2,000,000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Droopy eyelid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Liposuction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Removes stubborn localized fat for a smoother line.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₩3,000,000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Localized fat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Facelift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Surgically lifts deeper sagging for lasting rejuvenation.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₩12,000,000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Deep facial sagging</a:t>
                      </a:r>
                    </a:p>
                  </a:txBody>
                  <a:tcPr marL="889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8181A"/>
                          </a:solidFill>
                          <a:latin typeface="맑은 고딕"/>
                        </a:rPr>
                        <a:t>Cleft Lip / Palate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6B6B6B"/>
                          </a:solidFill>
                          <a:latin typeface="맑은 고딕"/>
                        </a:rPr>
                        <a:t>Cleft lip and palate correction.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8181A"/>
                          </a:solidFill>
                          <a:latin typeface="맑은 고딕"/>
                        </a:rPr>
                        <a:t>Consult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8A6A4A"/>
                          </a:solidFill>
                          <a:latin typeface="맑은 고딕"/>
                        </a:rPr>
                        <a:t>Cleft lip / palate</a:t>
                      </a:r>
                    </a:p>
                  </a:txBody>
                  <a:tcPr marL="88900" marR="63500" marT="38100" marB="38100" anchor="ctr"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978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24E7A"/>
                </a:solidFill>
                <a:latin typeface="맑은 고딕"/>
              </a:rPr>
              <a:t>⚠ 현재 수술은 고민 ‘연결’은 됐지만 ‘이유’가 비어 있습니다. 이유를 채우면 상세의 Why it helps·챗봇 설명이 나옵니다.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8. 고민(Concerns)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부위(Area) → 그 안에 세부 고민. 챗봇 질문·추천의 바탕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5212080" cy="508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46888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8181A"/>
                </a:solidFill>
                <a:latin typeface="맑은 고딕"/>
              </a:rPr>
              <a:t>시술(비수술)용 부위 → 고민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Skin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Pores, Rough texture, Pigmentation, Redness, Acne, Fine lines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Eye area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Dark circles, Under-eye hollows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Neck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Neck wrinkles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Face &amp; contour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Sagging &amp; firmness, Volume loss, Face slimming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9456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5212080" cy="50800"/>
          </a:xfrm>
          <a:prstGeom prst="rect">
            <a:avLst/>
          </a:prstGeom>
          <a:solidFill>
            <a:srgbClr val="8A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8181A"/>
                </a:solidFill>
                <a:latin typeface="맑은 고딕"/>
              </a:rPr>
              <a:t>수술용 부위 → 고민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Eyes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Double eyelid, Droopy eyelid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Nose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Nose shape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Face lift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Deep facial sagging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Body &amp; liposuction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Localized fat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Cleft lip / palate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맑은 고딕"/>
              </a:rPr>
              <a:t>Cleft lip / palate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9. 고민 연결 &amp; 이유 — 매칭의 핵심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</a:rPr>
              <a:t>시술 편집 화면 아래 ‘이 시술이 해결하는 고민’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이 시술이 좋은 고민을 골라 연결합니다 (여러 개 가능).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각 고민마다 ‘왜 이 시술이 좋은지’ 이유를 영어로 적습니다.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이유는 → 상세 ‘Why it helps’ + 챗봇 추천의 ‘Why for OOO’ 에 그대로 보입니다.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B8916A"/>
                </a:solidFill>
                <a:latin typeface="맑은 고딕"/>
              </a:rPr>
              <a:t>•  </a:t>
            </a:r>
            <a:r>
              <a:rPr sz="1500" b="0" i="0">
                <a:solidFill>
                  <a:srgbClr val="18181A"/>
                </a:solidFill>
                <a:latin typeface="맑은 고딕"/>
              </a:rPr>
              <a:t>연결만 하고 이유를 비우면 추천엔 잡히지만 설명은 안 나옵니다.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51960"/>
            <a:ext cx="10469880" cy="1783080"/>
          </a:xfrm>
          <a:prstGeom prst="rect">
            <a:avLst/>
          </a:prstGeom>
          <a:solidFill>
            <a:srgbClr val="F2EEE6"/>
          </a:solidFill>
          <a:ln w="12700">
            <a:solidFill>
              <a:srgbClr val="B89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434840"/>
            <a:ext cx="9966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8A6A4A"/>
                </a:solidFill>
                <a:latin typeface="맑은 고딕"/>
              </a:rPr>
              <a:t>실제 예시  </a:t>
            </a:r>
            <a:r>
              <a:rPr sz="1400" b="1" i="0">
                <a:solidFill>
                  <a:srgbClr val="18181A"/>
                </a:solidFill>
                <a:latin typeface="맑은 고딕"/>
              </a:rPr>
              <a:t>Ulthera → Sagging &amp; firmness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200"/>
              </a:spcAft>
            </a:pPr>
            <a:r>
              <a:rPr sz="1300" b="0" i="1">
                <a:solidFill>
                  <a:srgbClr val="18181A"/>
                </a:solidFill>
                <a:latin typeface="맑은 고딕"/>
              </a:rPr>
              <a:t>Ulthera is the only HIFU device cleared to target the SMAS — the exact connective layer a surgeon lifts in a facelift. Heating that layer produces a genuine, non-surgical lift of the jaw and cheeks over 2–3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8916A"/>
                </a:solidFill>
                <a:latin typeface="맑은 고딕"/>
              </a:rPr>
              <a:t>✦  </a:t>
            </a:r>
            <a:r>
              <a:rPr sz="1300" b="1" i="0">
                <a:solidFill>
                  <a:srgbClr val="8A6A4A"/>
                </a:solidFill>
                <a:latin typeface="맑은 고딕"/>
              </a:rPr>
              <a:t>GLOW UP SEOUL · 관리자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8181A"/>
                </a:solidFill>
                <a:latin typeface="맑은 고딕"/>
              </a:rPr>
              <a:t>10. 태그 · 사진 · 자주 묻는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005840" cy="38100"/>
          </a:xfrm>
          <a:prstGeom prst="rect">
            <a:avLst/>
          </a:prstGeom>
          <a:solidFill>
            <a:srgbClr val="B89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10469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8181A"/>
                </a:solidFill>
                <a:latin typeface="맑은 고딕"/>
              </a:rPr>
              <a:t>태그(Tags)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카드 하단 칩(최대 3개) · 상세 상단 라벨. Enter로 추가, × 삭제.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100" b="0" i="0">
                <a:solidFill>
                  <a:srgbClr val="8A6A4A"/>
                </a:solidFill>
                <a:latin typeface="맑은 고딕"/>
              </a:rPr>
              <a:t>현재 34개: Lifting, Non-invasive, HIFU, Firming, RF, Skinbooster, Regeneration, Pores, Nose, Contour, Reconstructive, Special, Tigh…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37560"/>
            <a:ext cx="10469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8181A"/>
                </a:solidFill>
                <a:latin typeface="맑은 고딕"/>
              </a:rPr>
              <a:t>사진  </a:t>
            </a:r>
            <a:r>
              <a:rPr sz="1300" b="0" i="0">
                <a:solidFill>
                  <a:srgbClr val="6B6B6B"/>
                </a:solidFill>
                <a:latin typeface="맑은 고딕"/>
              </a:rPr>
              <a:t>시술/수술 ‘Photo’ = 카드 썸네일·상세 큰 사진. 홈/로고/메인영상은 코드에 박혀 개발자가 교체.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1" i="0">
                <a:solidFill>
                  <a:srgbClr val="C24E7A"/>
                </a:solidFill>
                <a:latin typeface="맑은 고딕"/>
              </a:rPr>
              <a:t>환자 전후 사진은 반드시 서면 동의 후에만.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34840"/>
            <a:ext cx="10469880" cy="1783080"/>
          </a:xfrm>
          <a:prstGeom prst="rect">
            <a:avLst/>
          </a:prstGeom>
          <a:solidFill>
            <a:srgbClr val="F2EEE6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8181A"/>
                </a:solidFill>
                <a:latin typeface="맑은 고딕"/>
              </a:rPr>
              <a:t>자주 묻는 질문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저장했는데 안 보여요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‘Visible’ 체크가 꺼졌는지 확인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가격 비워도 되나요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네 → ‘Consult’로 표시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한글로 적어도 되나요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안 됨 — 영어로(초안은 한글 OK)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추천이 안 떠요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‘고민 연결’ 됐는지 확인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Why for 설명이 없어요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고민 ‘이유’를 채우면 나옴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1" i="0">
                <a:solidFill>
                  <a:srgbClr val="B8916A"/>
                </a:solidFill>
                <a:latin typeface="맑은 고딕"/>
              </a:rPr>
              <a:t>Q. </a:t>
            </a:r>
            <a:r>
              <a:rPr sz="1200" b="1" i="0">
                <a:solidFill>
                  <a:srgbClr val="18181A"/>
                </a:solidFill>
                <a:latin typeface="맑은 고딕"/>
              </a:rPr>
              <a:t>실수로 삭제  </a:t>
            </a:r>
            <a:r>
              <a:rPr sz="1200" b="0" i="0">
                <a:solidFill>
                  <a:srgbClr val="6B6B6B"/>
                </a:solidFill>
                <a:latin typeface="맑은 고딕"/>
              </a:rPr>
              <a:t>→ 숨김 처리라 복구 가능(개발자 문의)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1477</Words>
  <Application>Microsoft Office PowerPoint</Application>
  <PresentationFormat>와이드스크린</PresentationFormat>
  <Paragraphs>310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 Taehee</cp:lastModifiedBy>
  <cp:revision>3</cp:revision>
  <dcterms:created xsi:type="dcterms:W3CDTF">2013-01-27T09:14:16Z</dcterms:created>
  <dcterms:modified xsi:type="dcterms:W3CDTF">2026-06-14T02:08:40Z</dcterms:modified>
  <cp:category/>
</cp:coreProperties>
</file>